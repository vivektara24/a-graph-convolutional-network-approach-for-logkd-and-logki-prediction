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63" r:id="rId6"/>
    <p:sldId id="266" r:id="rId7"/>
    <p:sldId id="270" r:id="rId8"/>
    <p:sldId id="259" r:id="rId9"/>
    <p:sldId id="260" r:id="rId10"/>
    <p:sldId id="261" r:id="rId11"/>
    <p:sldId id="262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8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81DC-31ED-B24C-434D-B7DB0CE68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79DDA-733B-4700-12E9-16A9A191B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E5CFE-F609-917A-873B-20EAB0B5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EFA4A-5151-497D-B7AC-B98B6AC043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99612-492C-4205-625C-02D446180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11B6B-E2FE-0FC8-2BCA-C55FF4BC9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053D9-FAC1-4C60-8461-03647D80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30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F76D5-FA47-D3F3-8FD8-7D8A01CEC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15E47-487B-CD2F-90E5-C5A2D3E8A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828D8-851C-A97A-1F1D-36EB091FE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EFA4A-5151-497D-B7AC-B98B6AC043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6AECB-C946-C543-EC71-EF8D3904A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DF0B6-29B9-6954-F3A3-1992B9C74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053D9-FAC1-4C60-8461-03647D80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520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76C4-DA9E-5DA9-1169-A6C6A0C22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F37EC-A552-4265-BEA8-A879C4281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F812B-E056-16A6-A9D5-4E12071D8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EFA4A-5151-497D-B7AC-B98B6AC043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965EE-1A9A-A8E5-54D4-353E995B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0553F-7733-9009-13E0-89FF2CEDE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053D9-FAC1-4C60-8461-03647D80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54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8FEE7-C280-5D3F-BD42-003188145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D40DC-9580-24A9-A452-FDA8353C4A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CB0AF-1EDD-AC44-A88F-BD7F4F039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D20A4-CE4F-1449-B882-E46CA1F16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EFA4A-5151-497D-B7AC-B98B6AC043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6D659-4424-6316-C5C0-0A26FF07D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DE182-7B33-7774-A4A2-6607C9BC7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053D9-FAC1-4C60-8461-03647D80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BD2AC-A0E5-30DD-3620-BA33E684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7559B-BBE1-5D92-64B5-1C3F540A1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B55AC-08A5-FDE6-F299-ED2BC82DE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0BBEB3-5642-5158-9400-62D66AD78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2ACA43-AFF4-6199-33CF-44E75BF7F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43AC8A-AA01-A46C-1F20-00AB63044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EFA4A-5151-497D-B7AC-B98B6AC043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893CE6-1704-4967-280F-651672FC5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E6B6FC-4A7E-262B-10F7-6939D41B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053D9-FAC1-4C60-8461-03647D80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24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FBE17-F9C4-8FCC-FF78-562D7D87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5D709-E963-D1F6-4790-D1CA65B24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EFA4A-5151-497D-B7AC-B98B6AC043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B9141F-C574-87D2-BA71-B18F20AD4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7B598-5C2D-1594-28AD-91764088B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053D9-FAC1-4C60-8461-03647D80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36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ACE6BA-6D65-4B66-56A6-3C0A8B7A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EFA4A-5151-497D-B7AC-B98B6AC043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A7FEC1-E2D5-2AA1-2006-13882EABB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F9783-F7D0-7F27-7B2C-5D68C8EF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053D9-FAC1-4C60-8461-03647D80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24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015C8-F8D9-8BEB-DCB0-3F2B6E1C2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A3779-CC06-3E42-9D30-37E54BF27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6C3A5-5332-9D27-B347-232BDA3C3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2589F-3B48-DB25-8652-F19B204E3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EFA4A-5151-497D-B7AC-B98B6AC043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0382E-6909-5B4B-D8E9-4012F3717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DA6F5-F879-A238-E3BB-FE8F8F963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053D9-FAC1-4C60-8461-03647D80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97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39A7-AE53-A678-AB02-3813508F1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BF233-4069-3CF0-1A22-C68F760B6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5A641-A2F6-6586-D497-DB6D7D120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22006-2081-8606-5604-037C48626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EFA4A-5151-497D-B7AC-B98B6AC043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84198-530F-7AD7-9C6A-AEF5395DE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860E5-69A7-E9D2-B9C2-70708781F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053D9-FAC1-4C60-8461-03647D80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51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9C68-E1A7-2AAF-91A8-033D2243E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3B3017-FEA1-D4E7-53C7-8CC290D64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A4018-C425-CA8D-A11A-73383C48C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EFA4A-5151-497D-B7AC-B98B6AC043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0FC43-9A0F-46ED-5DAA-EBAE74C27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CA5A6-9F6B-244B-0778-E25ABA08C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053D9-FAC1-4C60-8461-03647D80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59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4A7D2F-4968-B36D-7017-1D34E852CC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29969E-0D1B-5674-26A3-B56A357AC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0567F-F86D-31E1-CB11-ED3F9A886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EFA4A-5151-497D-B7AC-B98B6AC043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77053-6174-ECC8-A8B1-1BAD15817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3AAE4-6175-4011-D70F-E307BC8FF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053D9-FAC1-4C60-8461-03647D80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4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9056D0-2F58-AF3C-DA33-48F6A71FE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991C4-40B1-5059-261A-AB2898F86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BDD39-9B8A-B424-B66E-45489D074F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EFA4A-5151-497D-B7AC-B98B6AC043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19B0D-A2B8-95F0-C72B-354DBF925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352EF-5D02-DF40-44AA-8C4E8F6C8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F053D9-FAC1-4C60-8461-03647D80D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25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D28DCF-3E8B-FFB3-42AE-6CFD565381DD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Graph Convolution Network Based Prediction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𝑙𝑜𝑔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𝑙𝑜𝑔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Protease Protein Family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D28DCF-3E8B-FFB3-42AE-6CFD565381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2"/>
                <a:stretch>
                  <a:fillRect t="-38265" b="-15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>
            <a:extLst>
              <a:ext uri="{FF2B5EF4-FFF2-40B4-BE49-F238E27FC236}">
                <a16:creationId xmlns:a16="http://schemas.microsoft.com/office/drawing/2014/main" id="{89D9A06E-58A0-E2B2-859F-1EAAD77E0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91087" y="5735637"/>
            <a:ext cx="2409825" cy="711994"/>
          </a:xfrm>
        </p:spPr>
        <p:txBody>
          <a:bodyPr/>
          <a:lstStyle/>
          <a:p>
            <a:r>
              <a:rPr lang="en-US" dirty="0"/>
              <a:t>Vivek Tara</a:t>
            </a:r>
          </a:p>
        </p:txBody>
      </p:sp>
    </p:spTree>
    <p:extLst>
      <p:ext uri="{BB962C8B-B14F-4D97-AF65-F5344CB8AC3E}">
        <p14:creationId xmlns:p14="http://schemas.microsoft.com/office/powerpoint/2010/main" val="14410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6AB0B25-900A-E497-16E6-567197E46F6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Equilibrium Dissociation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6AB0B25-900A-E497-16E6-567197E46F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70DCF8-1C0A-719A-DF43-E1810B951035}"/>
                  </a:ext>
                </a:extLst>
              </p:cNvPr>
              <p:cNvSpPr txBox="1"/>
              <p:nvPr/>
            </p:nvSpPr>
            <p:spPr>
              <a:xfrm>
                <a:off x="2025559" y="2552446"/>
                <a:ext cx="13342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⟺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70DCF8-1C0A-719A-DF43-E1810B951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559" y="2552446"/>
                <a:ext cx="1334276" cy="276999"/>
              </a:xfrm>
              <a:prstGeom prst="rect">
                <a:avLst/>
              </a:prstGeom>
              <a:blipFill>
                <a:blip r:embed="rId3"/>
                <a:stretch>
                  <a:fillRect l="-3653" r="-365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E23FBD-D7C9-5C10-5B6F-CA42620411E9}"/>
                  </a:ext>
                </a:extLst>
              </p:cNvPr>
              <p:cNvSpPr txBox="1"/>
              <p:nvPr/>
            </p:nvSpPr>
            <p:spPr>
              <a:xfrm>
                <a:off x="2058132" y="3832860"/>
                <a:ext cx="1269129" cy="5879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E23FBD-D7C9-5C10-5B6F-CA4262041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132" y="3832860"/>
                <a:ext cx="1269129" cy="5879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C85BC8D-A288-D3FB-800D-9BDC21109B65}"/>
              </a:ext>
            </a:extLst>
          </p:cNvPr>
          <p:cNvSpPr txBox="1"/>
          <p:nvPr/>
        </p:nvSpPr>
        <p:spPr>
          <a:xfrm>
            <a:off x="7226002" y="1690688"/>
            <a:ext cx="39928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 measure of the affinity between a ligand and receptor.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Calculated when 50% of the receptors are bound to ligands.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C7B13F-FE55-6A2E-9CA6-0A4D5A5DF7DC}"/>
              </a:ext>
            </a:extLst>
          </p:cNvPr>
          <p:cNvSpPr txBox="1"/>
          <p:nvPr/>
        </p:nvSpPr>
        <p:spPr>
          <a:xfrm>
            <a:off x="592813" y="1860560"/>
            <a:ext cx="4533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a given ligand-receptor binding reaction,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675BA-9749-DE95-F6E3-F438227D6362}"/>
              </a:ext>
            </a:extLst>
          </p:cNvPr>
          <p:cNvSpPr txBox="1"/>
          <p:nvPr/>
        </p:nvSpPr>
        <p:spPr>
          <a:xfrm>
            <a:off x="592813" y="3176430"/>
            <a:ext cx="502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equilibrium dissociation constant is given by,</a:t>
            </a:r>
          </a:p>
        </p:txBody>
      </p:sp>
      <p:pic>
        <p:nvPicPr>
          <p:cNvPr id="3076" name="Picture 4" descr="UniSysCat: Advances in computational methods for ligand binding kinetics">
            <a:extLst>
              <a:ext uri="{FF2B5EF4-FFF2-40B4-BE49-F238E27FC236}">
                <a16:creationId xmlns:a16="http://schemas.microsoft.com/office/drawing/2014/main" id="{B58DAE1C-D6A4-8D53-04C3-73F05D22E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7942" y="3361096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E05160-F4C1-9458-14C8-CF89DD533683}"/>
                  </a:ext>
                </a:extLst>
              </p:cNvPr>
              <p:cNvSpPr txBox="1"/>
              <p:nvPr/>
            </p:nvSpPr>
            <p:spPr>
              <a:xfrm>
                <a:off x="592813" y="5467350"/>
                <a:ext cx="25998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-&gt; Inhibitory Constant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E05160-F4C1-9458-14C8-CF89DD533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13" y="5467350"/>
                <a:ext cx="2599879" cy="369332"/>
              </a:xfrm>
              <a:prstGeom prst="rect">
                <a:avLst/>
              </a:prstGeom>
              <a:blipFill>
                <a:blip r:embed="rId6"/>
                <a:stretch>
                  <a:fillRect t="-8333" r="-1405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1537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E94FE-1EFC-E868-9A5F-8D3F184FC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63FE3-50BA-44FF-0615-C584B24C2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628776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Enzymes that catalyzes proteolysis</a:t>
            </a:r>
          </a:p>
          <a:p>
            <a:pPr lvl="1"/>
            <a:r>
              <a:rPr lang="en-US" dirty="0"/>
              <a:t>7 Broad Groups</a:t>
            </a:r>
          </a:p>
          <a:p>
            <a:pPr lvl="1"/>
            <a:r>
              <a:rPr lang="en-US" dirty="0"/>
              <a:t>Inhibited by protease inhibitors</a:t>
            </a:r>
          </a:p>
        </p:txBody>
      </p:sp>
      <p:pic>
        <p:nvPicPr>
          <p:cNvPr id="4098" name="Picture 2" descr="Protease - Wikipedia">
            <a:extLst>
              <a:ext uri="{FF2B5EF4-FFF2-40B4-BE49-F238E27FC236}">
                <a16:creationId xmlns:a16="http://schemas.microsoft.com/office/drawing/2014/main" id="{3D6E25C0-EFAF-98AB-F22D-1338DE029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900" y="2305049"/>
            <a:ext cx="4135577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265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CA6F3-D5D3-19B9-227F-3A994388E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706" y="-1155"/>
            <a:ext cx="7307580" cy="1325563"/>
          </a:xfrm>
        </p:spPr>
        <p:txBody>
          <a:bodyPr/>
          <a:lstStyle/>
          <a:p>
            <a:r>
              <a:rPr lang="en-US" dirty="0"/>
              <a:t>Raw Data and File Hierarchy 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A2E59A0-F50C-5A95-6C0C-B9D2C1438331}"/>
              </a:ext>
            </a:extLst>
          </p:cNvPr>
          <p:cNvGrpSpPr/>
          <p:nvPr/>
        </p:nvGrpSpPr>
        <p:grpSpPr>
          <a:xfrm>
            <a:off x="679704" y="1324408"/>
            <a:ext cx="5491925" cy="4783784"/>
            <a:chOff x="665388" y="1813152"/>
            <a:chExt cx="5491925" cy="478378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D750392-15D3-9203-D0FC-26F7EAEC17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355" y="2196193"/>
              <a:ext cx="1" cy="44007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A0943F6-671D-A6FD-3E54-33829C3F5B50}"/>
                </a:ext>
              </a:extLst>
            </p:cNvPr>
            <p:cNvSpPr/>
            <p:nvPr/>
          </p:nvSpPr>
          <p:spPr>
            <a:xfrm>
              <a:off x="665388" y="1813152"/>
              <a:ext cx="791935" cy="383041"/>
            </a:xfrm>
            <a:prstGeom prst="rect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Root Directory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24021C0-0AA2-779F-7C14-860C8BEE28A1}"/>
                </a:ext>
              </a:extLst>
            </p:cNvPr>
            <p:cNvCxnSpPr/>
            <p:nvPr/>
          </p:nvCxnSpPr>
          <p:spPr>
            <a:xfrm>
              <a:off x="1061355" y="2424793"/>
              <a:ext cx="75111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1FAE598-25F2-D839-F30A-42B675B98617}"/>
                </a:ext>
              </a:extLst>
            </p:cNvPr>
            <p:cNvSpPr txBox="1"/>
            <p:nvPr/>
          </p:nvSpPr>
          <p:spPr>
            <a:xfrm>
              <a:off x="1885950" y="2301682"/>
              <a:ext cx="78739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Model files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0A310A9-28BC-1C88-F8F0-DC07BC1BBC79}"/>
                </a:ext>
              </a:extLst>
            </p:cNvPr>
            <p:cNvCxnSpPr/>
            <p:nvPr/>
          </p:nvCxnSpPr>
          <p:spPr>
            <a:xfrm>
              <a:off x="1061355" y="2871107"/>
              <a:ext cx="75111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304450B-33D0-309D-3557-4D42C45A0A9A}"/>
                </a:ext>
              </a:extLst>
            </p:cNvPr>
            <p:cNvSpPr/>
            <p:nvPr/>
          </p:nvSpPr>
          <p:spPr>
            <a:xfrm>
              <a:off x="1436913" y="2679586"/>
              <a:ext cx="791935" cy="383041"/>
            </a:xfrm>
            <a:prstGeom prst="rect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/>
                <a:t>refinded</a:t>
              </a:r>
              <a:r>
                <a:rPr lang="en-US" sz="1000" dirty="0"/>
                <a:t>-set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6C93CF8-0B42-F123-A4C9-02874A106264}"/>
                </a:ext>
              </a:extLst>
            </p:cNvPr>
            <p:cNvCxnSpPr>
              <a:cxnSpLocks/>
            </p:cNvCxnSpPr>
            <p:nvPr/>
          </p:nvCxnSpPr>
          <p:spPr>
            <a:xfrm>
              <a:off x="1832880" y="3062627"/>
              <a:ext cx="0" cy="283835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DBBB821-FF70-0ED9-F554-3ADBF39F09CF}"/>
                </a:ext>
              </a:extLst>
            </p:cNvPr>
            <p:cNvCxnSpPr>
              <a:cxnSpLocks/>
              <a:endCxn id="3" idx="1"/>
            </p:cNvCxnSpPr>
            <p:nvPr/>
          </p:nvCxnSpPr>
          <p:spPr>
            <a:xfrm>
              <a:off x="1832880" y="3456214"/>
              <a:ext cx="21353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4AE0A40-CDD5-99C7-E034-EFE786F6F37D}"/>
                </a:ext>
              </a:extLst>
            </p:cNvPr>
            <p:cNvSpPr/>
            <p:nvPr/>
          </p:nvSpPr>
          <p:spPr>
            <a:xfrm>
              <a:off x="3968180" y="3264693"/>
              <a:ext cx="791935" cy="383041"/>
            </a:xfrm>
            <a:prstGeom prst="rect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1a1e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E62AC76-7BAB-1EA3-7E5D-4C27EDD319FA}"/>
                </a:ext>
              </a:extLst>
            </p:cNvPr>
            <p:cNvCxnSpPr>
              <a:cxnSpLocks/>
            </p:cNvCxnSpPr>
            <p:nvPr/>
          </p:nvCxnSpPr>
          <p:spPr>
            <a:xfrm>
              <a:off x="1832880" y="3996587"/>
              <a:ext cx="5330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32ED9A9-2809-924D-8E3E-F752565EE47C}"/>
                </a:ext>
              </a:extLst>
            </p:cNvPr>
            <p:cNvSpPr/>
            <p:nvPr/>
          </p:nvSpPr>
          <p:spPr>
            <a:xfrm>
              <a:off x="2365882" y="3829730"/>
              <a:ext cx="791935" cy="383041"/>
            </a:xfrm>
            <a:prstGeom prst="rect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1a4k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1E2484A-CF4B-BEEF-99F5-51E7252A6C5F}"/>
                </a:ext>
              </a:extLst>
            </p:cNvPr>
            <p:cNvCxnSpPr>
              <a:cxnSpLocks/>
            </p:cNvCxnSpPr>
            <p:nvPr/>
          </p:nvCxnSpPr>
          <p:spPr>
            <a:xfrm>
              <a:off x="1832880" y="5113721"/>
              <a:ext cx="5330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DBB3535-D9EA-D587-56C6-0642122850BB}"/>
                </a:ext>
              </a:extLst>
            </p:cNvPr>
            <p:cNvSpPr/>
            <p:nvPr/>
          </p:nvSpPr>
          <p:spPr>
            <a:xfrm>
              <a:off x="2365881" y="4865355"/>
              <a:ext cx="791935" cy="383041"/>
            </a:xfrm>
            <a:prstGeom prst="rect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966c</a:t>
              </a:r>
            </a:p>
          </p:txBody>
        </p:sp>
        <p:sp>
          <p:nvSpPr>
            <p:cNvPr id="21" name="Flowchart: Connector 20">
              <a:extLst>
                <a:ext uri="{FF2B5EF4-FFF2-40B4-BE49-F238E27FC236}">
                  <a16:creationId xmlns:a16="http://schemas.microsoft.com/office/drawing/2014/main" id="{712C50E2-4E48-3B3C-0924-9439C9EE8104}"/>
                </a:ext>
              </a:extLst>
            </p:cNvPr>
            <p:cNvSpPr/>
            <p:nvPr/>
          </p:nvSpPr>
          <p:spPr>
            <a:xfrm>
              <a:off x="2692515" y="4277595"/>
              <a:ext cx="98944" cy="94773"/>
            </a:xfrm>
            <a:prstGeom prst="flowChartConnector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lowchart: Connector 22">
              <a:extLst>
                <a:ext uri="{FF2B5EF4-FFF2-40B4-BE49-F238E27FC236}">
                  <a16:creationId xmlns:a16="http://schemas.microsoft.com/office/drawing/2014/main" id="{CB61FC56-3409-404E-5627-BD669591446A}"/>
                </a:ext>
              </a:extLst>
            </p:cNvPr>
            <p:cNvSpPr/>
            <p:nvPr/>
          </p:nvSpPr>
          <p:spPr>
            <a:xfrm>
              <a:off x="2690975" y="4437192"/>
              <a:ext cx="98944" cy="94773"/>
            </a:xfrm>
            <a:prstGeom prst="flowChartConnector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lowchart: Connector 24">
              <a:extLst>
                <a:ext uri="{FF2B5EF4-FFF2-40B4-BE49-F238E27FC236}">
                  <a16:creationId xmlns:a16="http://schemas.microsoft.com/office/drawing/2014/main" id="{FB9D315B-DB85-3461-6FA6-3F5150AE0D3C}"/>
                </a:ext>
              </a:extLst>
            </p:cNvPr>
            <p:cNvSpPr/>
            <p:nvPr/>
          </p:nvSpPr>
          <p:spPr>
            <a:xfrm>
              <a:off x="2690975" y="4596789"/>
              <a:ext cx="98944" cy="94773"/>
            </a:xfrm>
            <a:prstGeom prst="flowChartConnector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BB1F321-425F-E30F-CE94-75B5B8983190}"/>
                </a:ext>
              </a:extLst>
            </p:cNvPr>
            <p:cNvCxnSpPr>
              <a:cxnSpLocks/>
            </p:cNvCxnSpPr>
            <p:nvPr/>
          </p:nvCxnSpPr>
          <p:spPr>
            <a:xfrm>
              <a:off x="4362131" y="3647734"/>
              <a:ext cx="0" cy="14659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D37DA3C-8614-980F-623E-C14670341663}"/>
                </a:ext>
              </a:extLst>
            </p:cNvPr>
            <p:cNvCxnSpPr>
              <a:cxnSpLocks/>
            </p:cNvCxnSpPr>
            <p:nvPr/>
          </p:nvCxnSpPr>
          <p:spPr>
            <a:xfrm>
              <a:off x="4362131" y="3920387"/>
              <a:ext cx="5330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B47E0A1-32C1-5DF5-4AC0-599707A441AB}"/>
                </a:ext>
              </a:extLst>
            </p:cNvPr>
            <p:cNvCxnSpPr>
              <a:cxnSpLocks/>
            </p:cNvCxnSpPr>
            <p:nvPr/>
          </p:nvCxnSpPr>
          <p:spPr>
            <a:xfrm>
              <a:off x="4362131" y="4277595"/>
              <a:ext cx="5330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1F5AC7D-18DE-A67F-4FAD-42516234185E}"/>
                </a:ext>
              </a:extLst>
            </p:cNvPr>
            <p:cNvCxnSpPr>
              <a:cxnSpLocks/>
            </p:cNvCxnSpPr>
            <p:nvPr/>
          </p:nvCxnSpPr>
          <p:spPr>
            <a:xfrm>
              <a:off x="4362131" y="4691562"/>
              <a:ext cx="5330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7DB7B90-023B-18C0-A8C5-92E1071D868E}"/>
                </a:ext>
              </a:extLst>
            </p:cNvPr>
            <p:cNvSpPr txBox="1"/>
            <p:nvPr/>
          </p:nvSpPr>
          <p:spPr>
            <a:xfrm>
              <a:off x="4920678" y="3797276"/>
              <a:ext cx="117532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1a1e_ligand.mol2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7FBD523-6FA4-FBDC-F3CD-1F2FE2120A31}"/>
                </a:ext>
              </a:extLst>
            </p:cNvPr>
            <p:cNvSpPr txBox="1"/>
            <p:nvPr/>
          </p:nvSpPr>
          <p:spPr>
            <a:xfrm>
              <a:off x="4920678" y="4154484"/>
              <a:ext cx="10663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1a1e_ligand.sdf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143CB3-8580-AB62-CAE1-9EAA6F08DBE2}"/>
                </a:ext>
              </a:extLst>
            </p:cNvPr>
            <p:cNvSpPr txBox="1"/>
            <p:nvPr/>
          </p:nvSpPr>
          <p:spPr>
            <a:xfrm>
              <a:off x="4920678" y="4592360"/>
              <a:ext cx="1152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1a1e_pocket.pdb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2ABE3B4-3D64-2E0C-E629-94B23A5CA82C}"/>
                </a:ext>
              </a:extLst>
            </p:cNvPr>
            <p:cNvCxnSpPr>
              <a:cxnSpLocks/>
            </p:cNvCxnSpPr>
            <p:nvPr/>
          </p:nvCxnSpPr>
          <p:spPr>
            <a:xfrm>
              <a:off x="4362130" y="5109705"/>
              <a:ext cx="5330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3267EE4-5C5B-8B79-5945-67D54ED39EB5}"/>
                </a:ext>
              </a:extLst>
            </p:cNvPr>
            <p:cNvSpPr txBox="1"/>
            <p:nvPr/>
          </p:nvSpPr>
          <p:spPr>
            <a:xfrm>
              <a:off x="4990006" y="4973012"/>
              <a:ext cx="11673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1a1e_protein.pdb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7CBE18E-A158-FA4F-DBF8-261408C5672F}"/>
              </a:ext>
            </a:extLst>
          </p:cNvPr>
          <p:cNvSpPr txBox="1"/>
          <p:nvPr/>
        </p:nvSpPr>
        <p:spPr>
          <a:xfrm>
            <a:off x="7725885" y="1294221"/>
            <a:ext cx="342920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4858 total protein–ligand complexes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Mol2 files contained ligand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SDF files contained ligand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PDB files contained protein data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DDB663-A6AB-D366-9C6D-041DFEE59A34}"/>
              </a:ext>
            </a:extLst>
          </p:cNvPr>
          <p:cNvCxnSpPr>
            <a:cxnSpLocks/>
          </p:cNvCxnSpPr>
          <p:nvPr/>
        </p:nvCxnSpPr>
        <p:spPr>
          <a:xfrm>
            <a:off x="1847196" y="5417457"/>
            <a:ext cx="5330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B25B867-40F8-81E7-1F2E-2D0E0DF6487A}"/>
              </a:ext>
            </a:extLst>
          </p:cNvPr>
          <p:cNvSpPr/>
          <p:nvPr/>
        </p:nvSpPr>
        <p:spPr>
          <a:xfrm>
            <a:off x="2388008" y="5220715"/>
            <a:ext cx="791935" cy="383041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index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24A273-E60D-7496-29FA-3592BAB85C6E}"/>
              </a:ext>
            </a:extLst>
          </p:cNvPr>
          <p:cNvCxnSpPr>
            <a:cxnSpLocks/>
          </p:cNvCxnSpPr>
          <p:nvPr/>
        </p:nvCxnSpPr>
        <p:spPr>
          <a:xfrm>
            <a:off x="2804235" y="5603756"/>
            <a:ext cx="0" cy="8523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5EF9E5-D670-FCD0-DCD1-5A9F6EFD3CBD}"/>
              </a:ext>
            </a:extLst>
          </p:cNvPr>
          <p:cNvCxnSpPr>
            <a:cxnSpLocks/>
          </p:cNvCxnSpPr>
          <p:nvPr/>
        </p:nvCxnSpPr>
        <p:spPr>
          <a:xfrm>
            <a:off x="2804235" y="5883801"/>
            <a:ext cx="5330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DAB29EF-F939-FA0E-3CF3-8DD50CCF97F0}"/>
              </a:ext>
            </a:extLst>
          </p:cNvPr>
          <p:cNvSpPr txBox="1"/>
          <p:nvPr/>
        </p:nvSpPr>
        <p:spPr>
          <a:xfrm>
            <a:off x="3394835" y="5760690"/>
            <a:ext cx="16706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INDEX.geral_PL_data.2019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632A1E6-D15D-077E-6D4F-3F5FF5203DE0}"/>
              </a:ext>
            </a:extLst>
          </p:cNvPr>
          <p:cNvCxnSpPr>
            <a:cxnSpLocks/>
            <a:stCxn id="42" idx="2"/>
            <a:endCxn id="46" idx="0"/>
          </p:cNvCxnSpPr>
          <p:nvPr/>
        </p:nvCxnSpPr>
        <p:spPr>
          <a:xfrm>
            <a:off x="9440489" y="2248328"/>
            <a:ext cx="6241" cy="11879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1FE6901-BF3E-7FE1-7DAD-2436992AB822}"/>
              </a:ext>
            </a:extLst>
          </p:cNvPr>
          <p:cNvSpPr txBox="1"/>
          <p:nvPr/>
        </p:nvSpPr>
        <p:spPr>
          <a:xfrm>
            <a:off x="7725885" y="3436231"/>
            <a:ext cx="344169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RDKit</a:t>
            </a:r>
            <a:r>
              <a:rPr lang="en-US" sz="1400" dirty="0"/>
              <a:t> Mol 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4844 Protein Structures from PDB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4841 Ligan Structures from Mol2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2787 Ligan Structures from LDF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08E39A7-1838-DDCE-FD53-2163BF554626}"/>
              </a:ext>
            </a:extLst>
          </p:cNvPr>
          <p:cNvCxnSpPr>
            <a:cxnSpLocks/>
          </p:cNvCxnSpPr>
          <p:nvPr/>
        </p:nvCxnSpPr>
        <p:spPr>
          <a:xfrm flipH="1">
            <a:off x="9446729" y="4759652"/>
            <a:ext cx="1" cy="760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E359803-024E-C106-D46D-FF54DA09CEE1}"/>
              </a:ext>
            </a:extLst>
          </p:cNvPr>
          <p:cNvSpPr txBox="1"/>
          <p:nvPr/>
        </p:nvSpPr>
        <p:spPr>
          <a:xfrm>
            <a:off x="7899952" y="2691023"/>
            <a:ext cx="11977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 err="1"/>
              <a:t>MolFromPDBFile</a:t>
            </a:r>
            <a:r>
              <a:rPr lang="en-US" sz="1000" i="1" dirty="0"/>
              <a:t>()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6D7FE6-C277-58B1-F7D9-BD089A711EBF}"/>
              </a:ext>
            </a:extLst>
          </p:cNvPr>
          <p:cNvSpPr txBox="1"/>
          <p:nvPr/>
        </p:nvSpPr>
        <p:spPr>
          <a:xfrm>
            <a:off x="9702402" y="2719168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MolFromMol2File()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BA4B5B4-671D-1621-F9FD-A758DB47468C}"/>
              </a:ext>
            </a:extLst>
          </p:cNvPr>
          <p:cNvCxnSpPr>
            <a:cxnSpLocks/>
          </p:cNvCxnSpPr>
          <p:nvPr/>
        </p:nvCxnSpPr>
        <p:spPr>
          <a:xfrm flipV="1">
            <a:off x="1075671" y="6104792"/>
            <a:ext cx="268497" cy="3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A705CC2-37BF-CFDA-6BAA-F66228EF4E2C}"/>
              </a:ext>
            </a:extLst>
          </p:cNvPr>
          <p:cNvSpPr txBox="1"/>
          <p:nvPr/>
        </p:nvSpPr>
        <p:spPr>
          <a:xfrm>
            <a:off x="1312615" y="6006911"/>
            <a:ext cx="15231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Protease_202524_004747.xlsx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F2A493-B7E3-509C-745E-B6F914BFC858}"/>
              </a:ext>
            </a:extLst>
          </p:cNvPr>
          <p:cNvSpPr txBox="1"/>
          <p:nvPr/>
        </p:nvSpPr>
        <p:spPr>
          <a:xfrm>
            <a:off x="7791926" y="5603756"/>
            <a:ext cx="3820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Protease Only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295 total Protein-Ligand Complexes</a:t>
            </a:r>
          </a:p>
        </p:txBody>
      </p:sp>
    </p:spTree>
    <p:extLst>
      <p:ext uri="{BB962C8B-B14F-4D97-AF65-F5344CB8AC3E}">
        <p14:creationId xmlns:p14="http://schemas.microsoft.com/office/powerpoint/2010/main" val="107884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0B431-917A-3C32-CD22-BDD6DAEF8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6" y="374269"/>
            <a:ext cx="10515600" cy="1325563"/>
          </a:xfrm>
        </p:spPr>
        <p:txBody>
          <a:bodyPr/>
          <a:lstStyle/>
          <a:p>
            <a:r>
              <a:rPr lang="en-US" dirty="0"/>
              <a:t>Tabular Data: Molecular Properties and Morgan Fingerprints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06077-6F99-02C6-5961-3ABF88F7962D}"/>
              </a:ext>
            </a:extLst>
          </p:cNvPr>
          <p:cNvSpPr txBox="1"/>
          <p:nvPr/>
        </p:nvSpPr>
        <p:spPr>
          <a:xfrm>
            <a:off x="124206" y="1902589"/>
            <a:ext cx="687933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u="sng" dirty="0"/>
              <a:t>Molecular Properties Pulled from Protein and Ligand Mol Objects:</a:t>
            </a:r>
          </a:p>
          <a:p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500" dirty="0"/>
              <a:t>Exact Molecular Weight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500" dirty="0"/>
              <a:t>Number of Radical Electrons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500" dirty="0"/>
              <a:t>Number of Valence Electrons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500" dirty="0"/>
              <a:t>Max Partial Charge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500" dirty="0"/>
              <a:t>Min Partial Charge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500" dirty="0"/>
              <a:t>Number of Hydrogen Donors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500" dirty="0"/>
              <a:t>Number of Hydrogen Acceptors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500" dirty="0"/>
              <a:t>Topological Polar Surface Area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D3237A-6969-BA3B-031C-742D50953729}"/>
                  </a:ext>
                </a:extLst>
              </p:cNvPr>
              <p:cNvSpPr txBox="1"/>
              <p:nvPr/>
            </p:nvSpPr>
            <p:spPr>
              <a:xfrm>
                <a:off x="371856" y="6345231"/>
                <a:ext cx="47764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2+2048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2=4112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𝑇𝑎𝑏𝑢𝑙𝑎𝑟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𝐹𝑒𝑎𝑡𝑢𝑟𝑒𝑠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D3237A-6969-BA3B-031C-742D50953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56" y="6345231"/>
                <a:ext cx="4776436" cy="276999"/>
              </a:xfrm>
              <a:prstGeom prst="rect">
                <a:avLst/>
              </a:prstGeom>
              <a:blipFill>
                <a:blip r:embed="rId2"/>
                <a:stretch>
                  <a:fillRect l="-765" r="-63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E777457-73DF-C38D-E726-DCA86C35398F}"/>
              </a:ext>
            </a:extLst>
          </p:cNvPr>
          <p:cNvSpPr txBox="1"/>
          <p:nvPr/>
        </p:nvSpPr>
        <p:spPr>
          <a:xfrm>
            <a:off x="6111938" y="1902589"/>
            <a:ext cx="60800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u="sng" dirty="0"/>
              <a:t>Morgan Fingerprints:</a:t>
            </a:r>
          </a:p>
          <a:p>
            <a:endParaRPr lang="en-US" sz="1500" dirty="0"/>
          </a:p>
          <a:p>
            <a:r>
              <a:rPr lang="en-US" sz="1500" dirty="0"/>
              <a:t>Map certain structures of a molecule w/ a given radius into a hash table.</a:t>
            </a:r>
          </a:p>
          <a:p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500" dirty="0" err="1"/>
              <a:t>nBits</a:t>
            </a:r>
            <a:r>
              <a:rPr lang="en-US" sz="1500" dirty="0"/>
              <a:t> = 2048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500" dirty="0"/>
              <a:t>Radius = 4</a:t>
            </a:r>
          </a:p>
        </p:txBody>
      </p:sp>
      <p:pic>
        <p:nvPicPr>
          <p:cNvPr id="9" name="Picture 2" descr="A Practical Introduction to the Use of Molecular Fingerprints in Drug  Discovery | Towards Data Science">
            <a:extLst>
              <a:ext uri="{FF2B5EF4-FFF2-40B4-BE49-F238E27FC236}">
                <a16:creationId xmlns:a16="http://schemas.microsoft.com/office/drawing/2014/main" id="{CD21D782-93EC-7014-80A7-868062A5B4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7" t="12265" r="11981" b="10144"/>
          <a:stretch/>
        </p:blipFill>
        <p:spPr bwMode="auto">
          <a:xfrm>
            <a:off x="3971162" y="3935394"/>
            <a:ext cx="8096632" cy="177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499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6036D26-1575-7102-3BE6-8DA0E14B60B7}"/>
              </a:ext>
            </a:extLst>
          </p:cNvPr>
          <p:cNvGrpSpPr/>
          <p:nvPr/>
        </p:nvGrpSpPr>
        <p:grpSpPr>
          <a:xfrm>
            <a:off x="13754" y="0"/>
            <a:ext cx="4349219" cy="3308681"/>
            <a:chOff x="3327560" y="2093741"/>
            <a:chExt cx="4418423" cy="3426175"/>
          </a:xfrm>
        </p:grpSpPr>
        <p:pic>
          <p:nvPicPr>
            <p:cNvPr id="9" name="Picture 8" descr="A diagram of a diagram with colored dots&#10;&#10;AI-generated content may be incorrect.">
              <a:extLst>
                <a:ext uri="{FF2B5EF4-FFF2-40B4-BE49-F238E27FC236}">
                  <a16:creationId xmlns:a16="http://schemas.microsoft.com/office/drawing/2014/main" id="{0AA41E96-9E3C-DC65-69CD-D663C62AD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7560" y="2093741"/>
              <a:ext cx="4418423" cy="331381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2E318DC-9214-B031-6792-AC0E5D6DB5A7}"/>
                </a:ext>
              </a:extLst>
            </p:cNvPr>
            <p:cNvSpPr txBox="1"/>
            <p:nvPr/>
          </p:nvSpPr>
          <p:spPr>
            <a:xfrm>
              <a:off x="3362892" y="5258306"/>
              <a:ext cx="41312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2D PCA Reduction of All Protein-Ligand Complex Tabular Data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DAF974-A05A-F850-8819-A43FCFA94760}"/>
              </a:ext>
            </a:extLst>
          </p:cNvPr>
          <p:cNvGrpSpPr/>
          <p:nvPr/>
        </p:nvGrpSpPr>
        <p:grpSpPr>
          <a:xfrm>
            <a:off x="0" y="3691972"/>
            <a:ext cx="4873843" cy="3166026"/>
            <a:chOff x="7150476" y="2428833"/>
            <a:chExt cx="4859022" cy="3353069"/>
          </a:xfrm>
        </p:grpSpPr>
        <p:pic>
          <p:nvPicPr>
            <p:cNvPr id="7" name="Picture 6" descr="A diagram of a computer generated diagram">
              <a:extLst>
                <a:ext uri="{FF2B5EF4-FFF2-40B4-BE49-F238E27FC236}">
                  <a16:creationId xmlns:a16="http://schemas.microsoft.com/office/drawing/2014/main" id="{8FC352FA-A450-871E-89A4-35606CA46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71"/>
            <a:stretch/>
          </p:blipFill>
          <p:spPr>
            <a:xfrm>
              <a:off x="7198861" y="2428833"/>
              <a:ext cx="4418422" cy="315241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BEDE573-1B19-2ADB-D4CE-9BE57E670EAF}"/>
                </a:ext>
              </a:extLst>
            </p:cNvPr>
            <p:cNvSpPr txBox="1"/>
            <p:nvPr/>
          </p:nvSpPr>
          <p:spPr>
            <a:xfrm>
              <a:off x="7150476" y="5520292"/>
              <a:ext cx="485902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2D PCA Reduction of Protease Protein-Ligand Complex Tabular Data Only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C2F0C4A-AB2D-969C-1BEC-F3276741E6C9}"/>
              </a:ext>
            </a:extLst>
          </p:cNvPr>
          <p:cNvGrpSpPr/>
          <p:nvPr/>
        </p:nvGrpSpPr>
        <p:grpSpPr>
          <a:xfrm>
            <a:off x="7518968" y="0"/>
            <a:ext cx="4431899" cy="3454086"/>
            <a:chOff x="8336185" y="792598"/>
            <a:chExt cx="4345265" cy="3407958"/>
          </a:xfrm>
        </p:grpSpPr>
        <p:pic>
          <p:nvPicPr>
            <p:cNvPr id="17" name="Picture 16" descr="A diagram of a computer generated diagram&#10;&#10;AI-generated content may be incorrect.">
              <a:extLst>
                <a:ext uri="{FF2B5EF4-FFF2-40B4-BE49-F238E27FC236}">
                  <a16:creationId xmlns:a16="http://schemas.microsoft.com/office/drawing/2014/main" id="{7FE64F35-7CE4-3215-152B-D56A18C8B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6185" y="792598"/>
              <a:ext cx="4345265" cy="3258949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9CA380E-3645-8A96-E72F-3A4442EA470C}"/>
                </a:ext>
              </a:extLst>
            </p:cNvPr>
            <p:cNvSpPr txBox="1"/>
            <p:nvPr/>
          </p:nvSpPr>
          <p:spPr>
            <a:xfrm>
              <a:off x="8671380" y="3942440"/>
              <a:ext cx="3112217" cy="2581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2D PCA Reduction of Protein Tabular Data Only</a:t>
              </a:r>
            </a:p>
          </p:txBody>
        </p:sp>
      </p:grpSp>
      <p:pic>
        <p:nvPicPr>
          <p:cNvPr id="25" name="Picture 24" descr="A diagram of a computer generated diagram&#10;&#10;AI-generated content may be incorrect.">
            <a:extLst>
              <a:ext uri="{FF2B5EF4-FFF2-40B4-BE49-F238E27FC236}">
                <a16:creationId xmlns:a16="http://schemas.microsoft.com/office/drawing/2014/main" id="{5198280E-30BD-CE17-3D58-6D827A4345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466" y="3429000"/>
            <a:ext cx="4266901" cy="320017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3B24268-6B75-72AE-3EB9-CE2BD5291880}"/>
              </a:ext>
            </a:extLst>
          </p:cNvPr>
          <p:cNvSpPr txBox="1"/>
          <p:nvPr/>
        </p:nvSpPr>
        <p:spPr>
          <a:xfrm>
            <a:off x="7994877" y="6537731"/>
            <a:ext cx="31357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2D PCA Reduction of Ligand Tabular Data Only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927791-E6E4-D322-986D-6E42F9318FB1}"/>
              </a:ext>
            </a:extLst>
          </p:cNvPr>
          <p:cNvSpPr txBox="1"/>
          <p:nvPr/>
        </p:nvSpPr>
        <p:spPr>
          <a:xfrm>
            <a:off x="3616328" y="-22643"/>
            <a:ext cx="44013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Principle Component Analysis</a:t>
            </a:r>
          </a:p>
          <a:p>
            <a:pPr algn="ctr"/>
            <a:r>
              <a:rPr lang="en-US" sz="2400" b="1" dirty="0"/>
              <a:t>Of</a:t>
            </a:r>
          </a:p>
          <a:p>
            <a:pPr algn="ctr"/>
            <a:r>
              <a:rPr lang="en-US" sz="2400" b="1" dirty="0"/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4139776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C3B71-D158-C9C0-E3CC-5D330FC3E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Representation of Molecules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7D1F60-1120-AC36-04D3-CAF74B29ECA1}"/>
              </a:ext>
            </a:extLst>
          </p:cNvPr>
          <p:cNvSpPr txBox="1"/>
          <p:nvPr/>
        </p:nvSpPr>
        <p:spPr>
          <a:xfrm>
            <a:off x="1216661" y="3727009"/>
            <a:ext cx="2050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Node Features</a:t>
            </a:r>
            <a:endParaRPr lang="en-US" sz="1000" dirty="0"/>
          </a:p>
          <a:p>
            <a:r>
              <a:rPr lang="en-US" sz="1000" dirty="0"/>
              <a:t>m, n = (# atoms,  # features)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30 Features in Implementation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236B2FF-8677-9FE9-2B1A-042FB7381392}"/>
              </a:ext>
            </a:extLst>
          </p:cNvPr>
          <p:cNvGrpSpPr/>
          <p:nvPr/>
        </p:nvGrpSpPr>
        <p:grpSpPr>
          <a:xfrm>
            <a:off x="138291" y="2381251"/>
            <a:ext cx="3446115" cy="1170432"/>
            <a:chOff x="658956" y="2476882"/>
            <a:chExt cx="3446115" cy="117043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80A3095-4DD0-E3F0-E933-5EB5D4490279}"/>
                </a:ext>
              </a:extLst>
            </p:cNvPr>
            <p:cNvGrpSpPr/>
            <p:nvPr/>
          </p:nvGrpSpPr>
          <p:grpSpPr>
            <a:xfrm>
              <a:off x="1544751" y="2476882"/>
              <a:ext cx="2560320" cy="1170432"/>
              <a:chOff x="1307592" y="2350008"/>
              <a:chExt cx="2560320" cy="117043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772F564-531E-8215-51B2-2C695872FFFB}"/>
                  </a:ext>
                </a:extLst>
              </p:cNvPr>
              <p:cNvSpPr/>
              <p:nvPr/>
            </p:nvSpPr>
            <p:spPr>
              <a:xfrm>
                <a:off x="1307592" y="235000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CE57A51-1103-CB46-DE93-3233A2020174}"/>
                  </a:ext>
                </a:extLst>
              </p:cNvPr>
              <p:cNvSpPr/>
              <p:nvPr/>
            </p:nvSpPr>
            <p:spPr>
              <a:xfrm>
                <a:off x="1627632" y="235000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3421D60-6D93-8A6B-0463-D791A3907894}"/>
                  </a:ext>
                </a:extLst>
              </p:cNvPr>
              <p:cNvSpPr/>
              <p:nvPr/>
            </p:nvSpPr>
            <p:spPr>
              <a:xfrm>
                <a:off x="1947672" y="235000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1EB0368-6B17-482A-209B-A75ACA500859}"/>
                  </a:ext>
                </a:extLst>
              </p:cNvPr>
              <p:cNvSpPr/>
              <p:nvPr/>
            </p:nvSpPr>
            <p:spPr>
              <a:xfrm>
                <a:off x="2267712" y="235000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D64A888-6230-4039-4CEE-B625D087FC3E}"/>
                  </a:ext>
                </a:extLst>
              </p:cNvPr>
              <p:cNvSpPr/>
              <p:nvPr/>
            </p:nvSpPr>
            <p:spPr>
              <a:xfrm>
                <a:off x="2587752" y="235000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B26A4A2-675E-A906-FA99-CBEE28B39FCD}"/>
                  </a:ext>
                </a:extLst>
              </p:cNvPr>
              <p:cNvSpPr/>
              <p:nvPr/>
            </p:nvSpPr>
            <p:spPr>
              <a:xfrm>
                <a:off x="2907792" y="235000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FEE2E98-256E-0420-0CDE-EADFD75D59E8}"/>
                  </a:ext>
                </a:extLst>
              </p:cNvPr>
              <p:cNvSpPr/>
              <p:nvPr/>
            </p:nvSpPr>
            <p:spPr>
              <a:xfrm>
                <a:off x="3227832" y="235000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AF3FC32-3089-51F0-E294-A9D5BE87666F}"/>
                  </a:ext>
                </a:extLst>
              </p:cNvPr>
              <p:cNvSpPr/>
              <p:nvPr/>
            </p:nvSpPr>
            <p:spPr>
              <a:xfrm>
                <a:off x="3547872" y="235000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38500F2-CE38-6FCB-41C8-0802D78B14CC}"/>
                  </a:ext>
                </a:extLst>
              </p:cNvPr>
              <p:cNvSpPr/>
              <p:nvPr/>
            </p:nvSpPr>
            <p:spPr>
              <a:xfrm>
                <a:off x="1307592" y="264261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6B5918E-9217-4616-FDA9-86793A8207F2}"/>
                  </a:ext>
                </a:extLst>
              </p:cNvPr>
              <p:cNvSpPr/>
              <p:nvPr/>
            </p:nvSpPr>
            <p:spPr>
              <a:xfrm>
                <a:off x="1627632" y="264261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EBAE662-B591-3FF2-E655-CA7AAFF0B708}"/>
                  </a:ext>
                </a:extLst>
              </p:cNvPr>
              <p:cNvSpPr/>
              <p:nvPr/>
            </p:nvSpPr>
            <p:spPr>
              <a:xfrm>
                <a:off x="1947672" y="264261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B4E4B9F-BEE6-23F3-0D97-1512C567AA14}"/>
                  </a:ext>
                </a:extLst>
              </p:cNvPr>
              <p:cNvSpPr/>
              <p:nvPr/>
            </p:nvSpPr>
            <p:spPr>
              <a:xfrm>
                <a:off x="2267712" y="264261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20CA89E-2F6C-397D-1583-133B453E7C85}"/>
                  </a:ext>
                </a:extLst>
              </p:cNvPr>
              <p:cNvSpPr/>
              <p:nvPr/>
            </p:nvSpPr>
            <p:spPr>
              <a:xfrm>
                <a:off x="2587752" y="264261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453BF2C-CF44-E288-37E8-E2A272797BA2}"/>
                  </a:ext>
                </a:extLst>
              </p:cNvPr>
              <p:cNvSpPr/>
              <p:nvPr/>
            </p:nvSpPr>
            <p:spPr>
              <a:xfrm>
                <a:off x="2907792" y="264261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34FA6CA-2A49-DEA8-05D6-E1A265491711}"/>
                  </a:ext>
                </a:extLst>
              </p:cNvPr>
              <p:cNvSpPr/>
              <p:nvPr/>
            </p:nvSpPr>
            <p:spPr>
              <a:xfrm>
                <a:off x="3227832" y="264261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38DFB84-6DBC-E738-09F5-4708F891B259}"/>
                  </a:ext>
                </a:extLst>
              </p:cNvPr>
              <p:cNvSpPr/>
              <p:nvPr/>
            </p:nvSpPr>
            <p:spPr>
              <a:xfrm>
                <a:off x="3547872" y="264261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08FA3C3-B789-F8F4-CE4C-FACD509F4AA3}"/>
                  </a:ext>
                </a:extLst>
              </p:cNvPr>
              <p:cNvSpPr/>
              <p:nvPr/>
            </p:nvSpPr>
            <p:spPr>
              <a:xfrm>
                <a:off x="1307592" y="2935224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6AA2698-D11C-9E09-27FA-8111D39E4D85}"/>
                  </a:ext>
                </a:extLst>
              </p:cNvPr>
              <p:cNvSpPr/>
              <p:nvPr/>
            </p:nvSpPr>
            <p:spPr>
              <a:xfrm>
                <a:off x="1627632" y="2935224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060C958-991E-8C81-10AB-82401AFB2E7D}"/>
                  </a:ext>
                </a:extLst>
              </p:cNvPr>
              <p:cNvSpPr/>
              <p:nvPr/>
            </p:nvSpPr>
            <p:spPr>
              <a:xfrm>
                <a:off x="1947672" y="2935224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1B92921-34CF-D7AF-1FA8-FC0E0227AC68}"/>
                  </a:ext>
                </a:extLst>
              </p:cNvPr>
              <p:cNvSpPr/>
              <p:nvPr/>
            </p:nvSpPr>
            <p:spPr>
              <a:xfrm>
                <a:off x="2267712" y="2935224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DE0679C-5FC6-491D-978D-E8FD3DE0A67B}"/>
                  </a:ext>
                </a:extLst>
              </p:cNvPr>
              <p:cNvSpPr/>
              <p:nvPr/>
            </p:nvSpPr>
            <p:spPr>
              <a:xfrm>
                <a:off x="2587752" y="2935224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DF476E9-A66D-2102-EA16-F007BF8AC85F}"/>
                  </a:ext>
                </a:extLst>
              </p:cNvPr>
              <p:cNvSpPr/>
              <p:nvPr/>
            </p:nvSpPr>
            <p:spPr>
              <a:xfrm>
                <a:off x="2907792" y="2935224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9C836A7-A01B-5978-2A0C-768FF781B3BD}"/>
                  </a:ext>
                </a:extLst>
              </p:cNvPr>
              <p:cNvSpPr/>
              <p:nvPr/>
            </p:nvSpPr>
            <p:spPr>
              <a:xfrm>
                <a:off x="3227832" y="2935224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4FEBE20-E698-DD2F-71DF-E72A33F35A3A}"/>
                  </a:ext>
                </a:extLst>
              </p:cNvPr>
              <p:cNvSpPr/>
              <p:nvPr/>
            </p:nvSpPr>
            <p:spPr>
              <a:xfrm>
                <a:off x="3547872" y="2935224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0B87DE9-4B8A-9F3F-B22D-E39C5AE264D9}"/>
                  </a:ext>
                </a:extLst>
              </p:cNvPr>
              <p:cNvSpPr/>
              <p:nvPr/>
            </p:nvSpPr>
            <p:spPr>
              <a:xfrm>
                <a:off x="1307592" y="3227832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38CD1A6-C709-9BE8-737D-0A1A4EE73C45}"/>
                  </a:ext>
                </a:extLst>
              </p:cNvPr>
              <p:cNvSpPr/>
              <p:nvPr/>
            </p:nvSpPr>
            <p:spPr>
              <a:xfrm>
                <a:off x="1627632" y="3227832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D49D6E3-373C-A4E2-EC82-A448761139D7}"/>
                  </a:ext>
                </a:extLst>
              </p:cNvPr>
              <p:cNvSpPr/>
              <p:nvPr/>
            </p:nvSpPr>
            <p:spPr>
              <a:xfrm>
                <a:off x="1947672" y="3227832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2FA6CC2-152C-5D4C-0A24-A86A9927BC2A}"/>
                  </a:ext>
                </a:extLst>
              </p:cNvPr>
              <p:cNvSpPr/>
              <p:nvPr/>
            </p:nvSpPr>
            <p:spPr>
              <a:xfrm>
                <a:off x="2267712" y="3227832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35FCD6D-DE53-97BC-13F1-41B1B103206E}"/>
                  </a:ext>
                </a:extLst>
              </p:cNvPr>
              <p:cNvSpPr/>
              <p:nvPr/>
            </p:nvSpPr>
            <p:spPr>
              <a:xfrm>
                <a:off x="2587752" y="3227832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9458BD2-3A15-FE21-ADD2-811FC57991FE}"/>
                  </a:ext>
                </a:extLst>
              </p:cNvPr>
              <p:cNvSpPr/>
              <p:nvPr/>
            </p:nvSpPr>
            <p:spPr>
              <a:xfrm>
                <a:off x="2907792" y="3227832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E78207D-B6F9-B42E-1E72-FAF2F8B0EC84}"/>
                  </a:ext>
                </a:extLst>
              </p:cNvPr>
              <p:cNvSpPr/>
              <p:nvPr/>
            </p:nvSpPr>
            <p:spPr>
              <a:xfrm>
                <a:off x="3227832" y="3227832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6A4140F-DE80-CE6A-B749-A822B891BA2C}"/>
                  </a:ext>
                </a:extLst>
              </p:cNvPr>
              <p:cNvSpPr/>
              <p:nvPr/>
            </p:nvSpPr>
            <p:spPr>
              <a:xfrm>
                <a:off x="3547872" y="3227832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5B61934-0DE8-B3B0-AB1C-563FD89913BB}"/>
                    </a:ext>
                  </a:extLst>
                </p:cNvPr>
                <p:cNvSpPr txBox="1"/>
                <p:nvPr/>
              </p:nvSpPr>
              <p:spPr>
                <a:xfrm>
                  <a:off x="658956" y="2919925"/>
                  <a:ext cx="725775" cy="2884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5B61934-0DE8-B3B0-AB1C-563FD89913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956" y="2919925"/>
                  <a:ext cx="725775" cy="288477"/>
                </a:xfrm>
                <a:prstGeom prst="rect">
                  <a:avLst/>
                </a:prstGeom>
                <a:blipFill>
                  <a:blip r:embed="rId2"/>
                  <a:stretch>
                    <a:fillRect l="-8403" t="-8333"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BF56D9B-BC32-B23C-C234-F3E832269AC5}"/>
              </a:ext>
            </a:extLst>
          </p:cNvPr>
          <p:cNvSpPr txBox="1"/>
          <p:nvPr/>
        </p:nvSpPr>
        <p:spPr>
          <a:xfrm>
            <a:off x="5015251" y="3680842"/>
            <a:ext cx="18485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Molecule Coordinate List</a:t>
            </a:r>
            <a:endParaRPr lang="en-US" sz="1000" dirty="0"/>
          </a:p>
          <a:p>
            <a:r>
              <a:rPr lang="en-US" sz="1000" dirty="0"/>
              <a:t>m, n = (2,  2*number of bonds)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22319E4-B255-3D51-D379-5E5164BDE019}"/>
              </a:ext>
            </a:extLst>
          </p:cNvPr>
          <p:cNvGrpSpPr/>
          <p:nvPr/>
        </p:nvGrpSpPr>
        <p:grpSpPr>
          <a:xfrm>
            <a:off x="4086785" y="2705990"/>
            <a:ext cx="3043466" cy="585216"/>
            <a:chOff x="4658826" y="2540510"/>
            <a:chExt cx="3043466" cy="585216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88BA81B-B741-1F19-E457-67EE2052BC87}"/>
                </a:ext>
              </a:extLst>
            </p:cNvPr>
            <p:cNvGrpSpPr/>
            <p:nvPr/>
          </p:nvGrpSpPr>
          <p:grpSpPr>
            <a:xfrm>
              <a:off x="5141972" y="2540510"/>
              <a:ext cx="2560320" cy="585216"/>
              <a:chOff x="5445756" y="2787778"/>
              <a:chExt cx="2560320" cy="585216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3FCE146-4464-C1F5-3870-46D43C69709D}"/>
                  </a:ext>
                </a:extLst>
              </p:cNvPr>
              <p:cNvSpPr/>
              <p:nvPr/>
            </p:nvSpPr>
            <p:spPr>
              <a:xfrm>
                <a:off x="5445756" y="278777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C3F7F5F-97B3-9181-D81E-97708351C1D9}"/>
                  </a:ext>
                </a:extLst>
              </p:cNvPr>
              <p:cNvSpPr/>
              <p:nvPr/>
            </p:nvSpPr>
            <p:spPr>
              <a:xfrm>
                <a:off x="5765796" y="278777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BAE17CE-5D64-F965-9258-09B2EE45DE13}"/>
                  </a:ext>
                </a:extLst>
              </p:cNvPr>
              <p:cNvSpPr/>
              <p:nvPr/>
            </p:nvSpPr>
            <p:spPr>
              <a:xfrm>
                <a:off x="6085836" y="278777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23F631A-4D80-F5E9-C6A1-93EBBCC24D72}"/>
                  </a:ext>
                </a:extLst>
              </p:cNvPr>
              <p:cNvSpPr/>
              <p:nvPr/>
            </p:nvSpPr>
            <p:spPr>
              <a:xfrm>
                <a:off x="6405876" y="278777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59FF905-7B11-256F-C0BC-A65566DF71F3}"/>
                  </a:ext>
                </a:extLst>
              </p:cNvPr>
              <p:cNvSpPr/>
              <p:nvPr/>
            </p:nvSpPr>
            <p:spPr>
              <a:xfrm>
                <a:off x="5445756" y="308038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BD574DD-7C5C-4373-7F9F-E67470772D6C}"/>
                  </a:ext>
                </a:extLst>
              </p:cNvPr>
              <p:cNvSpPr/>
              <p:nvPr/>
            </p:nvSpPr>
            <p:spPr>
              <a:xfrm>
                <a:off x="5765796" y="308038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F2F7857-D20C-E5FE-2DDE-4D2AD13F83A0}"/>
                  </a:ext>
                </a:extLst>
              </p:cNvPr>
              <p:cNvSpPr/>
              <p:nvPr/>
            </p:nvSpPr>
            <p:spPr>
              <a:xfrm>
                <a:off x="6085836" y="308038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09BE516-1FE1-56DF-6DE5-3924777B319D}"/>
                  </a:ext>
                </a:extLst>
              </p:cNvPr>
              <p:cNvSpPr/>
              <p:nvPr/>
            </p:nvSpPr>
            <p:spPr>
              <a:xfrm>
                <a:off x="6405876" y="308038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421E402-27F0-B007-578F-111EFFA14041}"/>
                  </a:ext>
                </a:extLst>
              </p:cNvPr>
              <p:cNvSpPr/>
              <p:nvPr/>
            </p:nvSpPr>
            <p:spPr>
              <a:xfrm>
                <a:off x="6725916" y="278777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EEF8E7F-0811-508F-EE41-E457C5CA360C}"/>
                  </a:ext>
                </a:extLst>
              </p:cNvPr>
              <p:cNvSpPr/>
              <p:nvPr/>
            </p:nvSpPr>
            <p:spPr>
              <a:xfrm>
                <a:off x="7045956" y="278777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107FF92-8C61-7203-3150-8E9D47BEC019}"/>
                  </a:ext>
                </a:extLst>
              </p:cNvPr>
              <p:cNvSpPr/>
              <p:nvPr/>
            </p:nvSpPr>
            <p:spPr>
              <a:xfrm>
                <a:off x="7365996" y="278777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792AA1B-F680-20FC-4944-5D1835FB2C1F}"/>
                  </a:ext>
                </a:extLst>
              </p:cNvPr>
              <p:cNvSpPr/>
              <p:nvPr/>
            </p:nvSpPr>
            <p:spPr>
              <a:xfrm>
                <a:off x="7686036" y="278777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72A952C-422A-3771-2BFC-69D8E16DA838}"/>
                  </a:ext>
                </a:extLst>
              </p:cNvPr>
              <p:cNvSpPr/>
              <p:nvPr/>
            </p:nvSpPr>
            <p:spPr>
              <a:xfrm>
                <a:off x="6725916" y="308038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C969870-94DB-C2B2-E092-CE953949C8BB}"/>
                  </a:ext>
                </a:extLst>
              </p:cNvPr>
              <p:cNvSpPr/>
              <p:nvPr/>
            </p:nvSpPr>
            <p:spPr>
              <a:xfrm>
                <a:off x="7045956" y="308038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5D668A8-BF8A-F248-4477-782477DEE12F}"/>
                  </a:ext>
                </a:extLst>
              </p:cNvPr>
              <p:cNvSpPr/>
              <p:nvPr/>
            </p:nvSpPr>
            <p:spPr>
              <a:xfrm>
                <a:off x="7365996" y="308038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57250027-EF00-C507-652E-E1900F8688A0}"/>
                  </a:ext>
                </a:extLst>
              </p:cNvPr>
              <p:cNvSpPr/>
              <p:nvPr/>
            </p:nvSpPr>
            <p:spPr>
              <a:xfrm>
                <a:off x="7686036" y="308038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5F53431E-6AFA-D376-6885-8EF5B5955AEC}"/>
                    </a:ext>
                  </a:extLst>
                </p:cNvPr>
                <p:cNvSpPr txBox="1"/>
                <p:nvPr/>
              </p:nvSpPr>
              <p:spPr>
                <a:xfrm>
                  <a:off x="4658826" y="2686669"/>
                  <a:ext cx="4831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5F53431E-6AFA-D376-6885-8EF5B5955A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8826" y="2686669"/>
                  <a:ext cx="48314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125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DCFBBA0-604B-8571-B869-DFE75E166039}"/>
              </a:ext>
            </a:extLst>
          </p:cNvPr>
          <p:cNvGrpSpPr/>
          <p:nvPr/>
        </p:nvGrpSpPr>
        <p:grpSpPr>
          <a:xfrm>
            <a:off x="7970780" y="2559686"/>
            <a:ext cx="2999951" cy="1170432"/>
            <a:chOff x="1105120" y="2476882"/>
            <a:chExt cx="2999951" cy="1170432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8E7DCDC-4D52-5740-E469-EB2951751A31}"/>
                </a:ext>
              </a:extLst>
            </p:cNvPr>
            <p:cNvGrpSpPr/>
            <p:nvPr/>
          </p:nvGrpSpPr>
          <p:grpSpPr>
            <a:xfrm>
              <a:off x="1544751" y="2476882"/>
              <a:ext cx="2560320" cy="1170432"/>
              <a:chOff x="1307592" y="2350008"/>
              <a:chExt cx="2560320" cy="1170432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BD71BBAC-6AAA-6DBA-6037-714B696E0C2A}"/>
                  </a:ext>
                </a:extLst>
              </p:cNvPr>
              <p:cNvSpPr/>
              <p:nvPr/>
            </p:nvSpPr>
            <p:spPr>
              <a:xfrm>
                <a:off x="1307592" y="235000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2358849-0853-24F2-881B-40D32F7FD6B3}"/>
                  </a:ext>
                </a:extLst>
              </p:cNvPr>
              <p:cNvSpPr/>
              <p:nvPr/>
            </p:nvSpPr>
            <p:spPr>
              <a:xfrm>
                <a:off x="1627632" y="235000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FD4DDC2-C221-3B82-0C1E-FBA96E35C2C4}"/>
                  </a:ext>
                </a:extLst>
              </p:cNvPr>
              <p:cNvSpPr/>
              <p:nvPr/>
            </p:nvSpPr>
            <p:spPr>
              <a:xfrm>
                <a:off x="1947672" y="235000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CC2EBF00-9188-AA3E-8E26-AD1B1BE6E7FD}"/>
                  </a:ext>
                </a:extLst>
              </p:cNvPr>
              <p:cNvSpPr/>
              <p:nvPr/>
            </p:nvSpPr>
            <p:spPr>
              <a:xfrm>
                <a:off x="2267712" y="235000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F9E579-5C8A-61D8-41BA-29D81598387F}"/>
                  </a:ext>
                </a:extLst>
              </p:cNvPr>
              <p:cNvSpPr/>
              <p:nvPr/>
            </p:nvSpPr>
            <p:spPr>
              <a:xfrm>
                <a:off x="2587752" y="235000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F49C7F46-1E8F-C7BA-F7B8-62E1906E5EA9}"/>
                  </a:ext>
                </a:extLst>
              </p:cNvPr>
              <p:cNvSpPr/>
              <p:nvPr/>
            </p:nvSpPr>
            <p:spPr>
              <a:xfrm>
                <a:off x="2907792" y="235000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5C3B2E7-769F-004B-C181-782DC29DD3BF}"/>
                  </a:ext>
                </a:extLst>
              </p:cNvPr>
              <p:cNvSpPr/>
              <p:nvPr/>
            </p:nvSpPr>
            <p:spPr>
              <a:xfrm>
                <a:off x="3227832" y="235000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9D2D7F48-1874-557E-91A4-21B468A092DE}"/>
                  </a:ext>
                </a:extLst>
              </p:cNvPr>
              <p:cNvSpPr/>
              <p:nvPr/>
            </p:nvSpPr>
            <p:spPr>
              <a:xfrm>
                <a:off x="3547872" y="2350008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A24BF80A-33C4-0A4C-DCC3-5A1B4DEDD757}"/>
                  </a:ext>
                </a:extLst>
              </p:cNvPr>
              <p:cNvSpPr/>
              <p:nvPr/>
            </p:nvSpPr>
            <p:spPr>
              <a:xfrm>
                <a:off x="1307592" y="264261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2ACAD96-3D4D-7F3A-1841-06BB0D2E8D4B}"/>
                  </a:ext>
                </a:extLst>
              </p:cNvPr>
              <p:cNvSpPr/>
              <p:nvPr/>
            </p:nvSpPr>
            <p:spPr>
              <a:xfrm>
                <a:off x="1627632" y="264261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B3D6DA5C-10F6-85E5-61CB-2BB1AB6A923F}"/>
                  </a:ext>
                </a:extLst>
              </p:cNvPr>
              <p:cNvSpPr/>
              <p:nvPr/>
            </p:nvSpPr>
            <p:spPr>
              <a:xfrm>
                <a:off x="1947672" y="264261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47BD5AAE-DEE8-A531-C223-683984B1D8BD}"/>
                  </a:ext>
                </a:extLst>
              </p:cNvPr>
              <p:cNvSpPr/>
              <p:nvPr/>
            </p:nvSpPr>
            <p:spPr>
              <a:xfrm>
                <a:off x="2267712" y="264261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D0A6A7E-C64D-DB3E-7F56-10FD3E32A461}"/>
                  </a:ext>
                </a:extLst>
              </p:cNvPr>
              <p:cNvSpPr/>
              <p:nvPr/>
            </p:nvSpPr>
            <p:spPr>
              <a:xfrm>
                <a:off x="2587752" y="264261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842C98AA-FF56-4290-A3C7-6F4D3F07A3F2}"/>
                  </a:ext>
                </a:extLst>
              </p:cNvPr>
              <p:cNvSpPr/>
              <p:nvPr/>
            </p:nvSpPr>
            <p:spPr>
              <a:xfrm>
                <a:off x="2907792" y="264261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23C8F6F-3585-F5CF-3827-D770093A586A}"/>
                  </a:ext>
                </a:extLst>
              </p:cNvPr>
              <p:cNvSpPr/>
              <p:nvPr/>
            </p:nvSpPr>
            <p:spPr>
              <a:xfrm>
                <a:off x="3227832" y="264261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256168DD-4FE7-13A4-48BB-258E7FC8E0A4}"/>
                  </a:ext>
                </a:extLst>
              </p:cNvPr>
              <p:cNvSpPr/>
              <p:nvPr/>
            </p:nvSpPr>
            <p:spPr>
              <a:xfrm>
                <a:off x="3547872" y="2642616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43D81539-B09E-0778-C418-68438029E69F}"/>
                  </a:ext>
                </a:extLst>
              </p:cNvPr>
              <p:cNvSpPr/>
              <p:nvPr/>
            </p:nvSpPr>
            <p:spPr>
              <a:xfrm>
                <a:off x="1307592" y="2935224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ED9D3E0-312D-EDDC-E753-515718FA05F6}"/>
                  </a:ext>
                </a:extLst>
              </p:cNvPr>
              <p:cNvSpPr/>
              <p:nvPr/>
            </p:nvSpPr>
            <p:spPr>
              <a:xfrm>
                <a:off x="1627632" y="2935224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26FB4F44-9AC7-17E3-C70E-EBA05CB340BF}"/>
                  </a:ext>
                </a:extLst>
              </p:cNvPr>
              <p:cNvSpPr/>
              <p:nvPr/>
            </p:nvSpPr>
            <p:spPr>
              <a:xfrm>
                <a:off x="1947672" y="2935224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43E9301A-1A40-F07D-8CA1-FEB7D45FDDC8}"/>
                  </a:ext>
                </a:extLst>
              </p:cNvPr>
              <p:cNvSpPr/>
              <p:nvPr/>
            </p:nvSpPr>
            <p:spPr>
              <a:xfrm>
                <a:off x="2267712" y="2935224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83DDE2AD-8BF2-7DBC-BB46-84E51C4FCCC6}"/>
                  </a:ext>
                </a:extLst>
              </p:cNvPr>
              <p:cNvSpPr/>
              <p:nvPr/>
            </p:nvSpPr>
            <p:spPr>
              <a:xfrm>
                <a:off x="2587752" y="2935224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90D25CEF-2CB7-3BA8-0725-0BC9327339EA}"/>
                  </a:ext>
                </a:extLst>
              </p:cNvPr>
              <p:cNvSpPr/>
              <p:nvPr/>
            </p:nvSpPr>
            <p:spPr>
              <a:xfrm>
                <a:off x="2907792" y="2935224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951693A3-D30A-65FF-179F-FBDBF4156FF6}"/>
                  </a:ext>
                </a:extLst>
              </p:cNvPr>
              <p:cNvSpPr/>
              <p:nvPr/>
            </p:nvSpPr>
            <p:spPr>
              <a:xfrm>
                <a:off x="3227832" y="2935224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21437253-A458-B7D5-F04E-546F4E5F6EC2}"/>
                  </a:ext>
                </a:extLst>
              </p:cNvPr>
              <p:cNvSpPr/>
              <p:nvPr/>
            </p:nvSpPr>
            <p:spPr>
              <a:xfrm>
                <a:off x="3547872" y="2935224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DD178093-6C2E-03E1-D280-71E18F6C97FD}"/>
                  </a:ext>
                </a:extLst>
              </p:cNvPr>
              <p:cNvSpPr/>
              <p:nvPr/>
            </p:nvSpPr>
            <p:spPr>
              <a:xfrm>
                <a:off x="1307592" y="3227832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3495D6B8-2A92-BFB3-44DA-D931A25F01A8}"/>
                  </a:ext>
                </a:extLst>
              </p:cNvPr>
              <p:cNvSpPr/>
              <p:nvPr/>
            </p:nvSpPr>
            <p:spPr>
              <a:xfrm>
                <a:off x="1627632" y="3227832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BEF5F6C9-9232-CAD9-3E0B-DCEDCB2600F1}"/>
                  </a:ext>
                </a:extLst>
              </p:cNvPr>
              <p:cNvSpPr/>
              <p:nvPr/>
            </p:nvSpPr>
            <p:spPr>
              <a:xfrm>
                <a:off x="1947672" y="3227832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3C9480A9-C353-46D4-B078-675AAE1160D4}"/>
                  </a:ext>
                </a:extLst>
              </p:cNvPr>
              <p:cNvSpPr/>
              <p:nvPr/>
            </p:nvSpPr>
            <p:spPr>
              <a:xfrm>
                <a:off x="2267712" y="3227832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6BBAF81B-3A86-9398-96B8-2910C6FE03CD}"/>
                  </a:ext>
                </a:extLst>
              </p:cNvPr>
              <p:cNvSpPr/>
              <p:nvPr/>
            </p:nvSpPr>
            <p:spPr>
              <a:xfrm>
                <a:off x="2587752" y="3227832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79CF364-E837-8E11-CF3C-5F96AE2840C4}"/>
                  </a:ext>
                </a:extLst>
              </p:cNvPr>
              <p:cNvSpPr/>
              <p:nvPr/>
            </p:nvSpPr>
            <p:spPr>
              <a:xfrm>
                <a:off x="2907792" y="3227832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23756B52-84D1-A0EC-2B92-331E7C581C67}"/>
                  </a:ext>
                </a:extLst>
              </p:cNvPr>
              <p:cNvSpPr/>
              <p:nvPr/>
            </p:nvSpPr>
            <p:spPr>
              <a:xfrm>
                <a:off x="3227832" y="3227832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A363262-3E68-3E94-1BE7-CB68D52B1E51}"/>
                  </a:ext>
                </a:extLst>
              </p:cNvPr>
              <p:cNvSpPr/>
              <p:nvPr/>
            </p:nvSpPr>
            <p:spPr>
              <a:xfrm>
                <a:off x="3547872" y="3227832"/>
                <a:ext cx="320040" cy="292608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24C7B2CB-D1E7-E335-7512-DACC7C91A445}"/>
                    </a:ext>
                  </a:extLst>
                </p:cNvPr>
                <p:cNvSpPr txBox="1"/>
                <p:nvPr/>
              </p:nvSpPr>
              <p:spPr>
                <a:xfrm>
                  <a:off x="1105120" y="2907844"/>
                  <a:ext cx="3991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E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24C7B2CB-D1E7-E335-7512-DACC7C91A4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120" y="2907844"/>
                  <a:ext cx="399148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6923" t="-26667" r="-1538" b="-5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A6FFD9FD-42DC-59BD-E36C-E3FFF7E200E1}"/>
              </a:ext>
            </a:extLst>
          </p:cNvPr>
          <p:cNvSpPr txBox="1"/>
          <p:nvPr/>
        </p:nvSpPr>
        <p:spPr>
          <a:xfrm>
            <a:off x="8762854" y="4056599"/>
            <a:ext cx="2050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Edge Features</a:t>
            </a:r>
            <a:endParaRPr lang="en-US" sz="1000" dirty="0"/>
          </a:p>
          <a:p>
            <a:r>
              <a:rPr lang="en-US" sz="1000" dirty="0"/>
              <a:t>m, n = (# atoms,  # features)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11 Features in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160521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9E1A-D93A-0332-0B11-F552CE66B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Convolution Layer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1E2CAA-8C86-929E-DD61-EE7CB41CE90C}"/>
                  </a:ext>
                </a:extLst>
              </p:cNvPr>
              <p:cNvSpPr txBox="1"/>
              <p:nvPr/>
            </p:nvSpPr>
            <p:spPr>
              <a:xfrm>
                <a:off x="238083" y="2369888"/>
                <a:ext cx="3050066" cy="400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1E2CAA-8C86-929E-DD61-EE7CB41CE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83" y="2369888"/>
                <a:ext cx="3050066" cy="4009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5D3C4C3-B670-E3D0-287F-2D2C4F15FEAA}"/>
              </a:ext>
            </a:extLst>
          </p:cNvPr>
          <p:cNvSpPr txBox="1"/>
          <p:nvPr/>
        </p:nvSpPr>
        <p:spPr>
          <a:xfrm>
            <a:off x="6438188" y="1636971"/>
            <a:ext cx="542699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/>
              <a:t>Example: Input Layer from Implemented Model:</a:t>
            </a:r>
          </a:p>
          <a:p>
            <a:endParaRPr lang="en-US" sz="2000" u="sng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15,395 Atoms in Batch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30 Node Features per atom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64 Hidden Dimensions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C9290-8FF8-2108-BD65-CEA6D6DC94C9}"/>
              </a:ext>
            </a:extLst>
          </p:cNvPr>
          <p:cNvSpPr txBox="1"/>
          <p:nvPr/>
        </p:nvSpPr>
        <p:spPr>
          <a:xfrm>
            <a:off x="230666" y="1621493"/>
            <a:ext cx="383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output of a GCN layer is given by,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5FA82D-2903-48F8-3347-33DC2387B952}"/>
                  </a:ext>
                </a:extLst>
              </p:cNvPr>
              <p:cNvSpPr txBox="1"/>
              <p:nvPr/>
            </p:nvSpPr>
            <p:spPr>
              <a:xfrm>
                <a:off x="230666" y="3181350"/>
                <a:ext cx="7315200" cy="2104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Where,</a:t>
                </a:r>
              </a:p>
              <a:p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dirty="0"/>
                  <a:t> is a b x b adjacency matrix with self loops added.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dirty="0"/>
                  <a:t> a b x b diagonal degree matrix.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 the activation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GCN layer.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𝑁𝑜𝑑𝑒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𝐹𝑒𝑎𝑡𝑢𝑟𝑒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𝑀𝑎𝑡𝑟𝑖𝑥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 is the trainable weights matrix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5FA82D-2903-48F8-3347-33DC2387B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66" y="3181350"/>
                <a:ext cx="7315200" cy="2104807"/>
              </a:xfrm>
              <a:prstGeom prst="rect">
                <a:avLst/>
              </a:prstGeom>
              <a:blipFill>
                <a:blip r:embed="rId3"/>
                <a:stretch>
                  <a:fillRect l="-750" t="-1449" b="-4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E157D4-5F2C-BA90-A422-0A0557FE1C7F}"/>
                  </a:ext>
                </a:extLst>
              </p:cNvPr>
              <p:cNvSpPr txBox="1"/>
              <p:nvPr/>
            </p:nvSpPr>
            <p:spPr>
              <a:xfrm>
                <a:off x="230666" y="5586294"/>
                <a:ext cx="1746278" cy="729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E157D4-5F2C-BA90-A422-0A0557FE1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66" y="5586294"/>
                <a:ext cx="1746278" cy="7290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E1FD82A0-278F-E573-A569-A8780EB37346}"/>
              </a:ext>
            </a:extLst>
          </p:cNvPr>
          <p:cNvGrpSpPr/>
          <p:nvPr/>
        </p:nvGrpSpPr>
        <p:grpSpPr>
          <a:xfrm>
            <a:off x="5901262" y="4676001"/>
            <a:ext cx="5699560" cy="1220312"/>
            <a:chOff x="5644087" y="4067174"/>
            <a:chExt cx="5699560" cy="122031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A32C4E3-9721-5859-71E5-143F5091655D}"/>
                </a:ext>
              </a:extLst>
            </p:cNvPr>
            <p:cNvSpPr/>
            <p:nvPr/>
          </p:nvSpPr>
          <p:spPr>
            <a:xfrm>
              <a:off x="10591066" y="4067174"/>
              <a:ext cx="666750" cy="885825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5546935-B17D-D8D4-870D-17F3514F790B}"/>
                </a:ext>
              </a:extLst>
            </p:cNvPr>
            <p:cNvSpPr/>
            <p:nvPr/>
          </p:nvSpPr>
          <p:spPr>
            <a:xfrm rot="5400000">
              <a:off x="9801225" y="3962399"/>
              <a:ext cx="581025" cy="790575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E1E359-CBB2-126B-C55C-4FFC218AECEA}"/>
                </a:ext>
              </a:extLst>
            </p:cNvPr>
            <p:cNvSpPr/>
            <p:nvPr/>
          </p:nvSpPr>
          <p:spPr>
            <a:xfrm rot="5400000">
              <a:off x="8906608" y="3976793"/>
              <a:ext cx="581025" cy="790577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6AB8809-516E-6DDE-F847-3466320DF5C8}"/>
                </a:ext>
              </a:extLst>
            </p:cNvPr>
            <p:cNvSpPr/>
            <p:nvPr/>
          </p:nvSpPr>
          <p:spPr>
            <a:xfrm rot="5400000">
              <a:off x="8005754" y="3981449"/>
              <a:ext cx="581025" cy="790578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10697-2640-C4AB-0766-F4E6A1A878B8}"/>
                </a:ext>
              </a:extLst>
            </p:cNvPr>
            <p:cNvSpPr/>
            <p:nvPr/>
          </p:nvSpPr>
          <p:spPr>
            <a:xfrm rot="5400000">
              <a:off x="7109059" y="3981450"/>
              <a:ext cx="581025" cy="790575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AB7F94F-57DC-611D-2064-985E856943F8}"/>
                    </a:ext>
                  </a:extLst>
                </p:cNvPr>
                <p:cNvSpPr txBox="1"/>
                <p:nvPr/>
              </p:nvSpPr>
              <p:spPr>
                <a:xfrm>
                  <a:off x="9730949" y="4178008"/>
                  <a:ext cx="714375" cy="3808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AB7F94F-57DC-611D-2064-985E856943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0949" y="4178008"/>
                  <a:ext cx="714375" cy="3808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285C1BF-E47B-48F6-FC02-BED5A075F235}"/>
                </a:ext>
              </a:extLst>
            </p:cNvPr>
            <p:cNvSpPr txBox="1"/>
            <p:nvPr/>
          </p:nvSpPr>
          <p:spPr>
            <a:xfrm>
              <a:off x="9675584" y="4697154"/>
              <a:ext cx="8114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15,395 x 30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02AAD25-BDA1-F6B1-93FD-3CA5B263FA52}"/>
                    </a:ext>
                  </a:extLst>
                </p:cNvPr>
                <p:cNvSpPr txBox="1"/>
                <p:nvPr/>
              </p:nvSpPr>
              <p:spPr>
                <a:xfrm>
                  <a:off x="7094771" y="4111047"/>
                  <a:ext cx="609600" cy="4932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02AAD25-BDA1-F6B1-93FD-3CA5B263FA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71" y="4111047"/>
                  <a:ext cx="609600" cy="4932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F51D7BD-116B-8A7D-F1AA-1E49782FECAC}"/>
                </a:ext>
              </a:extLst>
            </p:cNvPr>
            <p:cNvSpPr txBox="1"/>
            <p:nvPr/>
          </p:nvSpPr>
          <p:spPr>
            <a:xfrm>
              <a:off x="8699419" y="4706678"/>
              <a:ext cx="10550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15,395 x 15,395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41BF2CA-61A1-BB33-FE9E-F0F78AA1CBC0}"/>
                </a:ext>
              </a:extLst>
            </p:cNvPr>
            <p:cNvSpPr txBox="1"/>
            <p:nvPr/>
          </p:nvSpPr>
          <p:spPr>
            <a:xfrm>
              <a:off x="7784731" y="4735552"/>
              <a:ext cx="10550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15,395 x 15,395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7790094-292B-2D94-088F-249DE1E4ED55}"/>
                </a:ext>
              </a:extLst>
            </p:cNvPr>
            <p:cNvSpPr txBox="1"/>
            <p:nvPr/>
          </p:nvSpPr>
          <p:spPr>
            <a:xfrm>
              <a:off x="6872022" y="4735967"/>
              <a:ext cx="10550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15,395 x 15,395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70AE2D2-01F8-D579-6B39-9B897A4FE924}"/>
                </a:ext>
              </a:extLst>
            </p:cNvPr>
            <p:cNvSpPr txBox="1"/>
            <p:nvPr/>
          </p:nvSpPr>
          <p:spPr>
            <a:xfrm>
              <a:off x="10591066" y="5041265"/>
              <a:ext cx="5677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30 x 64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892BD77-3266-7CE2-1D29-06A0FA49AF86}"/>
                    </a:ext>
                  </a:extLst>
                </p:cNvPr>
                <p:cNvSpPr txBox="1"/>
                <p:nvPr/>
              </p:nvSpPr>
              <p:spPr>
                <a:xfrm>
                  <a:off x="8892320" y="4081569"/>
                  <a:ext cx="609600" cy="4932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892BD77-3266-7CE2-1D29-06A0FA49AF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320" y="4081569"/>
                  <a:ext cx="609600" cy="4932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3552DB4-C2AE-C96D-EB03-756854D86917}"/>
                    </a:ext>
                  </a:extLst>
                </p:cNvPr>
                <p:cNvSpPr txBox="1"/>
                <p:nvPr/>
              </p:nvSpPr>
              <p:spPr>
                <a:xfrm>
                  <a:off x="8011991" y="4192297"/>
                  <a:ext cx="581025" cy="3750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3552DB4-C2AE-C96D-EB03-756854D869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1991" y="4192297"/>
                  <a:ext cx="581025" cy="375039"/>
                </a:xfrm>
                <a:prstGeom prst="rect">
                  <a:avLst/>
                </a:prstGeom>
                <a:blipFill>
                  <a:blip r:embed="rId8"/>
                  <a:stretch>
                    <a:fillRect t="-4918" r="-145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674F3F9-EAC2-2C6D-3BC2-7FFD56F0A214}"/>
                    </a:ext>
                  </a:extLst>
                </p:cNvPr>
                <p:cNvSpPr txBox="1"/>
                <p:nvPr/>
              </p:nvSpPr>
              <p:spPr>
                <a:xfrm>
                  <a:off x="10629272" y="4167280"/>
                  <a:ext cx="714375" cy="3808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674F3F9-EAC2-2C6D-3BC2-7FFD56F0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9272" y="4167280"/>
                  <a:ext cx="714375" cy="3808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7A14DB-B333-8E61-E964-7C9100EAD667}"/>
                </a:ext>
              </a:extLst>
            </p:cNvPr>
            <p:cNvSpPr/>
            <p:nvPr/>
          </p:nvSpPr>
          <p:spPr>
            <a:xfrm rot="5400000">
              <a:off x="5803591" y="4011354"/>
              <a:ext cx="581025" cy="790575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7768F70-0A2A-0F86-294A-1184C5E94712}"/>
                    </a:ext>
                  </a:extLst>
                </p:cNvPr>
                <p:cNvSpPr txBox="1"/>
                <p:nvPr/>
              </p:nvSpPr>
              <p:spPr>
                <a:xfrm>
                  <a:off x="5741153" y="4205188"/>
                  <a:ext cx="714375" cy="3808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7768F70-0A2A-0F86-294A-1184C5E947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1153" y="4205188"/>
                  <a:ext cx="714375" cy="3808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001D1F4-33FC-296F-B769-8A3AE19FF518}"/>
                </a:ext>
              </a:extLst>
            </p:cNvPr>
            <p:cNvSpPr txBox="1"/>
            <p:nvPr/>
          </p:nvSpPr>
          <p:spPr>
            <a:xfrm>
              <a:off x="5644087" y="4750295"/>
              <a:ext cx="8114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15,395 x 64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A3B7116-D799-DE83-4410-3387D3582358}"/>
                    </a:ext>
                  </a:extLst>
                </p:cNvPr>
                <p:cNvSpPr txBox="1"/>
                <p:nvPr/>
              </p:nvSpPr>
              <p:spPr>
                <a:xfrm>
                  <a:off x="6626167" y="4290337"/>
                  <a:ext cx="2196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A3B7116-D799-DE83-4410-3387D3582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6167" y="4290337"/>
                  <a:ext cx="219611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1111" r="-13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27197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063C6-DFEF-8FF9-B134-CBC892642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" y="10530"/>
            <a:ext cx="10515600" cy="1325563"/>
          </a:xfrm>
        </p:spPr>
        <p:txBody>
          <a:bodyPr/>
          <a:lstStyle/>
          <a:p>
            <a:r>
              <a:rPr lang="en-US" dirty="0"/>
              <a:t>Implemented Model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B2677D-02DE-0ACE-EA1B-2A7C8D07DAAD}"/>
              </a:ext>
            </a:extLst>
          </p:cNvPr>
          <p:cNvSpPr txBox="1"/>
          <p:nvPr/>
        </p:nvSpPr>
        <p:spPr>
          <a:xfrm>
            <a:off x="525780" y="920205"/>
            <a:ext cx="10431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model implemented in this project was a slight modification of the GCN Architecture from chapter 6.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1DE2954-743F-9AC2-8B83-668D6929D0CF}"/>
              </a:ext>
            </a:extLst>
          </p:cNvPr>
          <p:cNvGrpSpPr/>
          <p:nvPr/>
        </p:nvGrpSpPr>
        <p:grpSpPr>
          <a:xfrm>
            <a:off x="2148229" y="1546803"/>
            <a:ext cx="6019970" cy="1061348"/>
            <a:chOff x="713515" y="1735957"/>
            <a:chExt cx="6019970" cy="1061348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A21DD21-B54E-C85E-EA78-9E93CA4E89CF}"/>
                </a:ext>
              </a:extLst>
            </p:cNvPr>
            <p:cNvGrpSpPr/>
            <p:nvPr/>
          </p:nvGrpSpPr>
          <p:grpSpPr>
            <a:xfrm>
              <a:off x="713515" y="1735957"/>
              <a:ext cx="4013313" cy="1061348"/>
              <a:chOff x="1041174" y="1829495"/>
              <a:chExt cx="4121791" cy="1117101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FDA08E16-DB71-9CEB-9EA7-F189B071A610}"/>
                  </a:ext>
                </a:extLst>
              </p:cNvPr>
              <p:cNvGrpSpPr/>
              <p:nvPr/>
            </p:nvGrpSpPr>
            <p:grpSpPr>
              <a:xfrm>
                <a:off x="1041174" y="1829495"/>
                <a:ext cx="2060896" cy="1117101"/>
                <a:chOff x="1041174" y="1829495"/>
                <a:chExt cx="2060896" cy="1117101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748DD5A7-1876-5B39-0FE1-64943036CA46}"/>
                    </a:ext>
                  </a:extLst>
                </p:cNvPr>
                <p:cNvGrpSpPr/>
                <p:nvPr/>
              </p:nvGrpSpPr>
              <p:grpSpPr>
                <a:xfrm>
                  <a:off x="1041174" y="1829495"/>
                  <a:ext cx="1030448" cy="1117101"/>
                  <a:chOff x="1743372" y="1656450"/>
                  <a:chExt cx="1030448" cy="1117101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77688AEA-EF9A-AA5B-1091-21B454A651FF}"/>
                      </a:ext>
                    </a:extLst>
                  </p:cNvPr>
                  <p:cNvSpPr/>
                  <p:nvPr/>
                </p:nvSpPr>
                <p:spPr>
                  <a:xfrm>
                    <a:off x="1743372" y="1690688"/>
                    <a:ext cx="369116" cy="1048624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7" name="Straight Arrow Connector 6">
                    <a:extLst>
                      <a:ext uri="{FF2B5EF4-FFF2-40B4-BE49-F238E27FC236}">
                        <a16:creationId xmlns:a16="http://schemas.microsoft.com/office/drawing/2014/main" id="{477E9D0D-7E32-24BA-8FD9-DF6D1CA295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12488" y="2146672"/>
                    <a:ext cx="66133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E901C090-FC90-B213-D5B5-203C78F652C8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369379" y="2076501"/>
                    <a:ext cx="111710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BatchNorm1d</a:t>
                    </a:r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B10FC05E-CD5C-D76B-E91C-29BC9EDF360E}"/>
                    </a:ext>
                  </a:extLst>
                </p:cNvPr>
                <p:cNvGrpSpPr/>
                <p:nvPr/>
              </p:nvGrpSpPr>
              <p:grpSpPr>
                <a:xfrm>
                  <a:off x="2019110" y="1863733"/>
                  <a:ext cx="1082960" cy="1048624"/>
                  <a:chOff x="1690860" y="1690688"/>
                  <a:chExt cx="1082960" cy="1048624"/>
                </a:xfrm>
              </p:grpSpPr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0546311C-9B23-23B3-B17D-4E7C5B0B612D}"/>
                      </a:ext>
                    </a:extLst>
                  </p:cNvPr>
                  <p:cNvSpPr/>
                  <p:nvPr/>
                </p:nvSpPr>
                <p:spPr>
                  <a:xfrm>
                    <a:off x="1743372" y="1690688"/>
                    <a:ext cx="369116" cy="1048624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1" name="Straight Arrow Connector 20">
                    <a:extLst>
                      <a:ext uri="{FF2B5EF4-FFF2-40B4-BE49-F238E27FC236}">
                        <a16:creationId xmlns:a16="http://schemas.microsoft.com/office/drawing/2014/main" id="{1D689847-58CB-FB3B-7644-BEC8FC2B3D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12488" y="2146672"/>
                    <a:ext cx="66133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23D19F18-4FCD-05BC-257D-CAD8057880CE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479370" y="1977928"/>
                    <a:ext cx="897123" cy="47414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dirty="0" err="1"/>
                      <a:t>GCNConv</a:t>
                    </a:r>
                    <a:endParaRPr lang="en-US" sz="1200" dirty="0"/>
                  </a:p>
                  <a:p>
                    <a:pPr algn="ctr"/>
                    <a:r>
                      <a:rPr lang="en-US" sz="1200" dirty="0"/>
                      <a:t>(30, 8)</a:t>
                    </a: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6D0B417-6F72-3719-4D31-A71D04D61550}"/>
                  </a:ext>
                </a:extLst>
              </p:cNvPr>
              <p:cNvGrpSpPr/>
              <p:nvPr/>
            </p:nvGrpSpPr>
            <p:grpSpPr>
              <a:xfrm>
                <a:off x="3102069" y="1863733"/>
                <a:ext cx="2060896" cy="1048624"/>
                <a:chOff x="1041174" y="1863733"/>
                <a:chExt cx="2060896" cy="1048624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164FE374-5E81-3665-3329-5F07C0FEE376}"/>
                    </a:ext>
                  </a:extLst>
                </p:cNvPr>
                <p:cNvGrpSpPr/>
                <p:nvPr/>
              </p:nvGrpSpPr>
              <p:grpSpPr>
                <a:xfrm>
                  <a:off x="1041174" y="1863733"/>
                  <a:ext cx="1030448" cy="1048624"/>
                  <a:chOff x="1743372" y="1690688"/>
                  <a:chExt cx="1030448" cy="1048624"/>
                </a:xfrm>
              </p:grpSpPr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179B4EC1-3D35-3CC8-D4FC-7E31455403E7}"/>
                      </a:ext>
                    </a:extLst>
                  </p:cNvPr>
                  <p:cNvSpPr/>
                  <p:nvPr/>
                </p:nvSpPr>
                <p:spPr>
                  <a:xfrm>
                    <a:off x="1743372" y="1690688"/>
                    <a:ext cx="369116" cy="1048624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" name="Straight Arrow Connector 30">
                    <a:extLst>
                      <a:ext uri="{FF2B5EF4-FFF2-40B4-BE49-F238E27FC236}">
                        <a16:creationId xmlns:a16="http://schemas.microsoft.com/office/drawing/2014/main" id="{55B381A7-E365-D38E-9FC5-EF303A38BB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12488" y="2146672"/>
                    <a:ext cx="66133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B8137893-F7E8-50B3-8310-20E24DF899AB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645930" y="2072757"/>
                    <a:ext cx="564000" cy="2844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dirty="0" err="1"/>
                      <a:t>ReLU</a:t>
                    </a:r>
                    <a:endParaRPr lang="en-US" sz="1200" dirty="0"/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A28FD675-2921-D6DE-D8EF-4AA4CE0E5997}"/>
                    </a:ext>
                  </a:extLst>
                </p:cNvPr>
                <p:cNvGrpSpPr/>
                <p:nvPr/>
              </p:nvGrpSpPr>
              <p:grpSpPr>
                <a:xfrm>
                  <a:off x="2010248" y="1863733"/>
                  <a:ext cx="1091822" cy="1048624"/>
                  <a:chOff x="1681998" y="1690688"/>
                  <a:chExt cx="1091822" cy="1048624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5703AC0A-CBDE-5334-3511-A789BA8C5FEC}"/>
                      </a:ext>
                    </a:extLst>
                  </p:cNvPr>
                  <p:cNvSpPr/>
                  <p:nvPr/>
                </p:nvSpPr>
                <p:spPr>
                  <a:xfrm>
                    <a:off x="1743372" y="1690688"/>
                    <a:ext cx="369116" cy="1048624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8" name="Straight Arrow Connector 27">
                    <a:extLst>
                      <a:ext uri="{FF2B5EF4-FFF2-40B4-BE49-F238E27FC236}">
                        <a16:creationId xmlns:a16="http://schemas.microsoft.com/office/drawing/2014/main" id="{47FB3929-5DE4-61CB-B26B-3D6BA3DAF5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12488" y="2146672"/>
                    <a:ext cx="66133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5DA66F34-C4E7-DFEE-2829-8AD22449ABD1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470508" y="2004972"/>
                    <a:ext cx="897123" cy="47414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dirty="0" err="1"/>
                      <a:t>GCNConv</a:t>
                    </a:r>
                    <a:endParaRPr lang="en-US" sz="1200" dirty="0"/>
                  </a:p>
                  <a:p>
                    <a:pPr algn="ctr"/>
                    <a:r>
                      <a:rPr lang="en-US" sz="1200" dirty="0"/>
                      <a:t>(64, 8)</a:t>
                    </a:r>
                  </a:p>
                </p:txBody>
              </p:sp>
            </p:grpSp>
          </p:grp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D9A133D-40B4-0143-B500-12B535D8A20B}"/>
                </a:ext>
              </a:extLst>
            </p:cNvPr>
            <p:cNvGrpSpPr/>
            <p:nvPr/>
          </p:nvGrpSpPr>
          <p:grpSpPr>
            <a:xfrm>
              <a:off x="4726828" y="1763877"/>
              <a:ext cx="2006657" cy="996289"/>
              <a:chOff x="1041174" y="1863733"/>
              <a:chExt cx="2060896" cy="1048624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150F9134-0873-3D23-EAFA-11C6E0CC092E}"/>
                  </a:ext>
                </a:extLst>
              </p:cNvPr>
              <p:cNvGrpSpPr/>
              <p:nvPr/>
            </p:nvGrpSpPr>
            <p:grpSpPr>
              <a:xfrm>
                <a:off x="1041174" y="1863733"/>
                <a:ext cx="1030448" cy="1048624"/>
                <a:chOff x="1743372" y="1690688"/>
                <a:chExt cx="1030448" cy="1048624"/>
              </a:xfrm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318AB7F3-9281-2053-645E-D96D6F8FE0CF}"/>
                    </a:ext>
                  </a:extLst>
                </p:cNvPr>
                <p:cNvSpPr/>
                <p:nvPr/>
              </p:nvSpPr>
              <p:spPr>
                <a:xfrm>
                  <a:off x="1743372" y="1690688"/>
                  <a:ext cx="369116" cy="104862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7978BC6D-4B6C-32C2-B899-90A8BA1996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2488" y="2146672"/>
                  <a:ext cx="66133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40E6C0B-60A2-24A5-62C5-2081ACBB7974}"/>
                    </a:ext>
                  </a:extLst>
                </p:cNvPr>
                <p:cNvSpPr txBox="1"/>
                <p:nvPr/>
              </p:nvSpPr>
              <p:spPr>
                <a:xfrm rot="5400000">
                  <a:off x="1662869" y="2072757"/>
                  <a:ext cx="530121" cy="2844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 err="1"/>
                    <a:t>RelU</a:t>
                  </a:r>
                  <a:endParaRPr lang="en-US" sz="1200" dirty="0"/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0EC6437D-E9A2-C9AC-9EC0-13D4051BCDEC}"/>
                  </a:ext>
                </a:extLst>
              </p:cNvPr>
              <p:cNvGrpSpPr/>
              <p:nvPr/>
            </p:nvGrpSpPr>
            <p:grpSpPr>
              <a:xfrm>
                <a:off x="2071622" y="1863733"/>
                <a:ext cx="1030448" cy="1048624"/>
                <a:chOff x="1743372" y="1690688"/>
                <a:chExt cx="1030448" cy="1048624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8A3A1EE7-1C0F-C3B4-F000-6F9A719BC66D}"/>
                    </a:ext>
                  </a:extLst>
                </p:cNvPr>
                <p:cNvSpPr/>
                <p:nvPr/>
              </p:nvSpPr>
              <p:spPr>
                <a:xfrm>
                  <a:off x="1743372" y="1690688"/>
                  <a:ext cx="369116" cy="104862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A3FDD8A5-E888-B165-7BA3-F8B3FCCA71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2488" y="2146672"/>
                  <a:ext cx="66133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6EB7AD0E-A5D5-8B43-3091-46A170F9DF3A}"/>
                    </a:ext>
                  </a:extLst>
                </p:cNvPr>
                <p:cNvSpPr txBox="1"/>
                <p:nvPr/>
              </p:nvSpPr>
              <p:spPr>
                <a:xfrm rot="5400000">
                  <a:off x="1573347" y="2081025"/>
                  <a:ext cx="709641" cy="2844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 err="1"/>
                    <a:t>Pooilng</a:t>
                  </a:r>
                  <a:endParaRPr lang="en-US" sz="1200" dirty="0"/>
                </a:p>
              </p:txBody>
            </p:sp>
          </p:grpSp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4ED929D3-BBB8-9172-25A1-1E1A175FFEBE}"/>
              </a:ext>
            </a:extLst>
          </p:cNvPr>
          <p:cNvSpPr txBox="1"/>
          <p:nvPr/>
        </p:nvSpPr>
        <p:spPr>
          <a:xfrm>
            <a:off x="213294" y="3767309"/>
            <a:ext cx="14927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Ligand Protein Features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F328DF3-FC06-566B-FF2F-0ECC3949F858}"/>
              </a:ext>
            </a:extLst>
          </p:cNvPr>
          <p:cNvSpPr txBox="1"/>
          <p:nvPr/>
        </p:nvSpPr>
        <p:spPr>
          <a:xfrm>
            <a:off x="260216" y="1954365"/>
            <a:ext cx="1423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Protein Node Features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5EC5ED3-5A97-7E0D-9602-9D92687549BE}"/>
              </a:ext>
            </a:extLst>
          </p:cNvPr>
          <p:cNvSpPr txBox="1"/>
          <p:nvPr/>
        </p:nvSpPr>
        <p:spPr>
          <a:xfrm>
            <a:off x="6257031" y="5006166"/>
            <a:ext cx="8980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Tabular Data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0CAEF61-D5FA-301A-61FE-4366B1B69E85}"/>
              </a:ext>
            </a:extLst>
          </p:cNvPr>
          <p:cNvGrpSpPr/>
          <p:nvPr/>
        </p:nvGrpSpPr>
        <p:grpSpPr>
          <a:xfrm>
            <a:off x="2148229" y="3413395"/>
            <a:ext cx="6019970" cy="1061348"/>
            <a:chOff x="713515" y="1735957"/>
            <a:chExt cx="6019970" cy="1061348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194FEDE9-09CE-80E0-609A-353D61A7505D}"/>
                </a:ext>
              </a:extLst>
            </p:cNvPr>
            <p:cNvGrpSpPr/>
            <p:nvPr/>
          </p:nvGrpSpPr>
          <p:grpSpPr>
            <a:xfrm>
              <a:off x="713515" y="1735957"/>
              <a:ext cx="4013313" cy="1061348"/>
              <a:chOff x="1041174" y="1829495"/>
              <a:chExt cx="4121791" cy="1117101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1712F1C1-5B69-75FE-8AD2-05C3B83ABAFC}"/>
                  </a:ext>
                </a:extLst>
              </p:cNvPr>
              <p:cNvGrpSpPr/>
              <p:nvPr/>
            </p:nvGrpSpPr>
            <p:grpSpPr>
              <a:xfrm>
                <a:off x="1041174" y="1829495"/>
                <a:ext cx="2060896" cy="1117101"/>
                <a:chOff x="1041174" y="1829495"/>
                <a:chExt cx="2060896" cy="1117101"/>
              </a:xfrm>
            </p:grpSpPr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2A572A93-6BE6-A3F6-3BBA-18038A9F836C}"/>
                    </a:ext>
                  </a:extLst>
                </p:cNvPr>
                <p:cNvGrpSpPr/>
                <p:nvPr/>
              </p:nvGrpSpPr>
              <p:grpSpPr>
                <a:xfrm>
                  <a:off x="1041174" y="1829495"/>
                  <a:ext cx="1030448" cy="1117101"/>
                  <a:chOff x="1743372" y="1656450"/>
                  <a:chExt cx="1030448" cy="1117101"/>
                </a:xfrm>
              </p:grpSpPr>
              <p:sp>
                <p:nvSpPr>
                  <p:cNvPr id="113" name="Rectangle 112">
                    <a:extLst>
                      <a:ext uri="{FF2B5EF4-FFF2-40B4-BE49-F238E27FC236}">
                        <a16:creationId xmlns:a16="http://schemas.microsoft.com/office/drawing/2014/main" id="{B2206179-4FA6-2461-6295-9D1A0F3384C8}"/>
                      </a:ext>
                    </a:extLst>
                  </p:cNvPr>
                  <p:cNvSpPr/>
                  <p:nvPr/>
                </p:nvSpPr>
                <p:spPr>
                  <a:xfrm>
                    <a:off x="1743372" y="1690688"/>
                    <a:ext cx="369116" cy="1048624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14" name="Straight Arrow Connector 113">
                    <a:extLst>
                      <a:ext uri="{FF2B5EF4-FFF2-40B4-BE49-F238E27FC236}">
                        <a16:creationId xmlns:a16="http://schemas.microsoft.com/office/drawing/2014/main" id="{B8DE2930-19E4-E421-3AD8-8D6A8A4510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12488" y="2146672"/>
                    <a:ext cx="66133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08E18D79-F473-2578-1856-42E260CDF913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369379" y="2076501"/>
                    <a:ext cx="111710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BatchNorm1d</a:t>
                    </a:r>
                  </a:p>
                </p:txBody>
              </p:sp>
            </p:grpSp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4B428090-D522-D688-2AFC-2764AB07B211}"/>
                    </a:ext>
                  </a:extLst>
                </p:cNvPr>
                <p:cNvGrpSpPr/>
                <p:nvPr/>
              </p:nvGrpSpPr>
              <p:grpSpPr>
                <a:xfrm>
                  <a:off x="2019110" y="1863733"/>
                  <a:ext cx="1082960" cy="1048624"/>
                  <a:chOff x="1690860" y="1690688"/>
                  <a:chExt cx="1082960" cy="1048624"/>
                </a:xfrm>
              </p:grpSpPr>
              <p:sp>
                <p:nvSpPr>
                  <p:cNvPr id="110" name="Rectangle 109">
                    <a:extLst>
                      <a:ext uri="{FF2B5EF4-FFF2-40B4-BE49-F238E27FC236}">
                        <a16:creationId xmlns:a16="http://schemas.microsoft.com/office/drawing/2014/main" id="{9E7FAE6B-C624-7776-2301-2563B6451229}"/>
                      </a:ext>
                    </a:extLst>
                  </p:cNvPr>
                  <p:cNvSpPr/>
                  <p:nvPr/>
                </p:nvSpPr>
                <p:spPr>
                  <a:xfrm>
                    <a:off x="1743372" y="1690688"/>
                    <a:ext cx="369116" cy="1048624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11" name="Straight Arrow Connector 110">
                    <a:extLst>
                      <a:ext uri="{FF2B5EF4-FFF2-40B4-BE49-F238E27FC236}">
                        <a16:creationId xmlns:a16="http://schemas.microsoft.com/office/drawing/2014/main" id="{4B7AB612-F533-A817-DCEC-A41182AEAE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12488" y="2146672"/>
                    <a:ext cx="66133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id="{D58EFEAF-2732-F553-8FE2-C54DD255FE25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479370" y="1977928"/>
                    <a:ext cx="897123" cy="47414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dirty="0" err="1"/>
                      <a:t>GCNConv</a:t>
                    </a:r>
                    <a:endParaRPr lang="en-US" sz="1200" dirty="0"/>
                  </a:p>
                  <a:p>
                    <a:pPr algn="ctr"/>
                    <a:r>
                      <a:rPr lang="en-US" sz="1200" dirty="0"/>
                      <a:t>(30, 8)</a:t>
                    </a: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6F449377-A349-C1B9-F374-8F30D51005F3}"/>
                  </a:ext>
                </a:extLst>
              </p:cNvPr>
              <p:cNvGrpSpPr/>
              <p:nvPr/>
            </p:nvGrpSpPr>
            <p:grpSpPr>
              <a:xfrm>
                <a:off x="3102069" y="1863733"/>
                <a:ext cx="2060896" cy="1048624"/>
                <a:chOff x="1041174" y="1863733"/>
                <a:chExt cx="2060896" cy="1048624"/>
              </a:xfrm>
            </p:grpSpPr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0275EC7C-959B-643B-E84A-BECFC352F8A1}"/>
                    </a:ext>
                  </a:extLst>
                </p:cNvPr>
                <p:cNvGrpSpPr/>
                <p:nvPr/>
              </p:nvGrpSpPr>
              <p:grpSpPr>
                <a:xfrm>
                  <a:off x="1041174" y="1863733"/>
                  <a:ext cx="1030448" cy="1048624"/>
                  <a:chOff x="1743372" y="1690688"/>
                  <a:chExt cx="1030448" cy="1048624"/>
                </a:xfrm>
              </p:grpSpPr>
              <p:sp>
                <p:nvSpPr>
                  <p:cNvPr id="105" name="Rectangle 104">
                    <a:extLst>
                      <a:ext uri="{FF2B5EF4-FFF2-40B4-BE49-F238E27FC236}">
                        <a16:creationId xmlns:a16="http://schemas.microsoft.com/office/drawing/2014/main" id="{878D10A3-1A82-39A1-4A81-18CF4993A41A}"/>
                      </a:ext>
                    </a:extLst>
                  </p:cNvPr>
                  <p:cNvSpPr/>
                  <p:nvPr/>
                </p:nvSpPr>
                <p:spPr>
                  <a:xfrm>
                    <a:off x="1743372" y="1690688"/>
                    <a:ext cx="369116" cy="1048624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6" name="Straight Arrow Connector 105">
                    <a:extLst>
                      <a:ext uri="{FF2B5EF4-FFF2-40B4-BE49-F238E27FC236}">
                        <a16:creationId xmlns:a16="http://schemas.microsoft.com/office/drawing/2014/main" id="{6D45FD4F-8F83-1BAB-8C37-23AFD2CF91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12488" y="2146672"/>
                    <a:ext cx="66133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id="{E7AA7A51-0175-8A31-7568-E3AF16DBDA7E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645930" y="2072757"/>
                    <a:ext cx="564000" cy="2844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dirty="0" err="1"/>
                      <a:t>ReLU</a:t>
                    </a:r>
                    <a:endParaRPr lang="en-US" sz="1200" dirty="0"/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ED3054A7-4BCB-4E05-3BC7-02A242533C3B}"/>
                    </a:ext>
                  </a:extLst>
                </p:cNvPr>
                <p:cNvGrpSpPr/>
                <p:nvPr/>
              </p:nvGrpSpPr>
              <p:grpSpPr>
                <a:xfrm>
                  <a:off x="2010248" y="1863733"/>
                  <a:ext cx="1091822" cy="1048624"/>
                  <a:chOff x="1681998" y="1690688"/>
                  <a:chExt cx="1091822" cy="1048624"/>
                </a:xfrm>
              </p:grpSpPr>
              <p:sp>
                <p:nvSpPr>
                  <p:cNvPr id="102" name="Rectangle 101">
                    <a:extLst>
                      <a:ext uri="{FF2B5EF4-FFF2-40B4-BE49-F238E27FC236}">
                        <a16:creationId xmlns:a16="http://schemas.microsoft.com/office/drawing/2014/main" id="{78017986-953D-5F84-A976-DC9001995401}"/>
                      </a:ext>
                    </a:extLst>
                  </p:cNvPr>
                  <p:cNvSpPr/>
                  <p:nvPr/>
                </p:nvSpPr>
                <p:spPr>
                  <a:xfrm>
                    <a:off x="1743372" y="1690688"/>
                    <a:ext cx="369116" cy="1048624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3" name="Straight Arrow Connector 102">
                    <a:extLst>
                      <a:ext uri="{FF2B5EF4-FFF2-40B4-BE49-F238E27FC236}">
                        <a16:creationId xmlns:a16="http://schemas.microsoft.com/office/drawing/2014/main" id="{E9ECA8D2-6B11-80ED-E2AB-60B81D6F0D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12488" y="2146672"/>
                    <a:ext cx="66133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19A23EB3-40B7-4043-ED57-E8AC37CF3D35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470508" y="2004972"/>
                    <a:ext cx="897123" cy="47414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dirty="0" err="1"/>
                      <a:t>GCNConv</a:t>
                    </a:r>
                    <a:endParaRPr lang="en-US" sz="1200" dirty="0"/>
                  </a:p>
                  <a:p>
                    <a:pPr algn="ctr"/>
                    <a:r>
                      <a:rPr lang="en-US" sz="1200" dirty="0"/>
                      <a:t>(64, 8)</a:t>
                    </a:r>
                  </a:p>
                </p:txBody>
              </p:sp>
            </p:grpSp>
          </p:grp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FEA0C519-960A-532C-DFE2-79A68F38D808}"/>
                </a:ext>
              </a:extLst>
            </p:cNvPr>
            <p:cNvGrpSpPr/>
            <p:nvPr/>
          </p:nvGrpSpPr>
          <p:grpSpPr>
            <a:xfrm>
              <a:off x="4726828" y="1763877"/>
              <a:ext cx="2006657" cy="996289"/>
              <a:chOff x="1041174" y="1863733"/>
              <a:chExt cx="2060896" cy="1048624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33911D72-6ABA-F0D6-FA6D-1D3F81B609F8}"/>
                  </a:ext>
                </a:extLst>
              </p:cNvPr>
              <p:cNvGrpSpPr/>
              <p:nvPr/>
            </p:nvGrpSpPr>
            <p:grpSpPr>
              <a:xfrm>
                <a:off x="1041174" y="1863733"/>
                <a:ext cx="1030448" cy="1048624"/>
                <a:chOff x="1743372" y="1690688"/>
                <a:chExt cx="1030448" cy="1048624"/>
              </a:xfrm>
            </p:grpSpPr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B8832E1B-BB8B-EAEA-4A44-3859E3238A7C}"/>
                    </a:ext>
                  </a:extLst>
                </p:cNvPr>
                <p:cNvSpPr/>
                <p:nvPr/>
              </p:nvSpPr>
              <p:spPr>
                <a:xfrm>
                  <a:off x="1743372" y="1690688"/>
                  <a:ext cx="369116" cy="104862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6" name="Straight Arrow Connector 95">
                  <a:extLst>
                    <a:ext uri="{FF2B5EF4-FFF2-40B4-BE49-F238E27FC236}">
                      <a16:creationId xmlns:a16="http://schemas.microsoft.com/office/drawing/2014/main" id="{D348B27E-0365-7462-D691-A3CC61D08C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2488" y="2146672"/>
                  <a:ext cx="66133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5581F18F-5D54-78D3-899D-3B547AB583E9}"/>
                    </a:ext>
                  </a:extLst>
                </p:cNvPr>
                <p:cNvSpPr txBox="1"/>
                <p:nvPr/>
              </p:nvSpPr>
              <p:spPr>
                <a:xfrm rot="5400000">
                  <a:off x="1662869" y="2072757"/>
                  <a:ext cx="530121" cy="2844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 err="1"/>
                    <a:t>RelU</a:t>
                  </a:r>
                  <a:endParaRPr lang="en-US" sz="1200" dirty="0"/>
                </a:p>
              </p:txBody>
            </p: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38492314-B215-9093-9E40-F3CE1EF3ADB0}"/>
                  </a:ext>
                </a:extLst>
              </p:cNvPr>
              <p:cNvGrpSpPr/>
              <p:nvPr/>
            </p:nvGrpSpPr>
            <p:grpSpPr>
              <a:xfrm>
                <a:off x="2071622" y="1863733"/>
                <a:ext cx="1030448" cy="1048624"/>
                <a:chOff x="1743372" y="1690688"/>
                <a:chExt cx="1030448" cy="1048624"/>
              </a:xfrm>
            </p:grpSpPr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B9F754C3-78E9-1177-DD95-24B494E87F3D}"/>
                    </a:ext>
                  </a:extLst>
                </p:cNvPr>
                <p:cNvSpPr/>
                <p:nvPr/>
              </p:nvSpPr>
              <p:spPr>
                <a:xfrm>
                  <a:off x="1743372" y="1690688"/>
                  <a:ext cx="369116" cy="104862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3" name="Straight Arrow Connector 92">
                  <a:extLst>
                    <a:ext uri="{FF2B5EF4-FFF2-40B4-BE49-F238E27FC236}">
                      <a16:creationId xmlns:a16="http://schemas.microsoft.com/office/drawing/2014/main" id="{68958B68-75E0-F00E-DD58-E83CE1414E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2488" y="2146672"/>
                  <a:ext cx="66133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44273152-A6F9-79D4-0F51-088E62718336}"/>
                    </a:ext>
                  </a:extLst>
                </p:cNvPr>
                <p:cNvSpPr txBox="1"/>
                <p:nvPr/>
              </p:nvSpPr>
              <p:spPr>
                <a:xfrm rot="5400000">
                  <a:off x="1573347" y="2081025"/>
                  <a:ext cx="709641" cy="2844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 err="1"/>
                    <a:t>Pooilng</a:t>
                  </a:r>
                  <a:endParaRPr lang="en-US" sz="1200" dirty="0"/>
                </a:p>
              </p:txBody>
            </p:sp>
          </p:grpSp>
        </p:grp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DFFD446D-D9AF-407D-FC9C-0B946A815486}"/>
              </a:ext>
            </a:extLst>
          </p:cNvPr>
          <p:cNvSpPr txBox="1"/>
          <p:nvPr/>
        </p:nvSpPr>
        <p:spPr>
          <a:xfrm>
            <a:off x="232984" y="2904803"/>
            <a:ext cx="21557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Protein Coordinate List (COO)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5E0E7DE-3BB4-ED01-61C4-E7B8279A6A3E}"/>
              </a:ext>
            </a:extLst>
          </p:cNvPr>
          <p:cNvSpPr txBox="1"/>
          <p:nvPr/>
        </p:nvSpPr>
        <p:spPr>
          <a:xfrm>
            <a:off x="309184" y="4836951"/>
            <a:ext cx="21236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Ligand Coordinate List (COO)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4955D10-33CB-71FD-2B99-DA100A3218DD}"/>
              </a:ext>
            </a:extLst>
          </p:cNvPr>
          <p:cNvCxnSpPr>
            <a:cxnSpLocks/>
          </p:cNvCxnSpPr>
          <p:nvPr/>
        </p:nvCxnSpPr>
        <p:spPr>
          <a:xfrm flipH="1" flipV="1">
            <a:off x="3331257" y="4508743"/>
            <a:ext cx="1" cy="466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65575FF-EA7C-C3A1-A1F5-2B02ED784B84}"/>
              </a:ext>
            </a:extLst>
          </p:cNvPr>
          <p:cNvCxnSpPr>
            <a:cxnSpLocks/>
            <a:stCxn id="117" idx="3"/>
          </p:cNvCxnSpPr>
          <p:nvPr/>
        </p:nvCxnSpPr>
        <p:spPr>
          <a:xfrm>
            <a:off x="2432842" y="4975451"/>
            <a:ext cx="8984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9176ABCC-93C0-7C3E-D429-AF3D8F57F3D1}"/>
              </a:ext>
            </a:extLst>
          </p:cNvPr>
          <p:cNvCxnSpPr>
            <a:cxnSpLocks/>
          </p:cNvCxnSpPr>
          <p:nvPr/>
        </p:nvCxnSpPr>
        <p:spPr>
          <a:xfrm flipH="1" flipV="1">
            <a:off x="5342666" y="4508743"/>
            <a:ext cx="1" cy="466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75FC4E4-C174-DABB-CDE3-7E8EBAA34E04}"/>
              </a:ext>
            </a:extLst>
          </p:cNvPr>
          <p:cNvCxnSpPr>
            <a:cxnSpLocks/>
          </p:cNvCxnSpPr>
          <p:nvPr/>
        </p:nvCxnSpPr>
        <p:spPr>
          <a:xfrm>
            <a:off x="3331257" y="4975450"/>
            <a:ext cx="20066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9A3BBFEB-4072-7BF8-093C-7CA47185662E}"/>
              </a:ext>
            </a:extLst>
          </p:cNvPr>
          <p:cNvCxnSpPr>
            <a:cxnSpLocks/>
          </p:cNvCxnSpPr>
          <p:nvPr/>
        </p:nvCxnSpPr>
        <p:spPr>
          <a:xfrm>
            <a:off x="2327929" y="3058133"/>
            <a:ext cx="10033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AE9A671B-DEDA-B10D-7266-3BB051325084}"/>
              </a:ext>
            </a:extLst>
          </p:cNvPr>
          <p:cNvCxnSpPr>
            <a:cxnSpLocks/>
          </p:cNvCxnSpPr>
          <p:nvPr/>
        </p:nvCxnSpPr>
        <p:spPr>
          <a:xfrm flipV="1">
            <a:off x="3331256" y="2636253"/>
            <a:ext cx="0" cy="406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314195FE-2949-9FEE-FC0B-BEAA4B8CBEA2}"/>
              </a:ext>
            </a:extLst>
          </p:cNvPr>
          <p:cNvCxnSpPr>
            <a:cxnSpLocks/>
          </p:cNvCxnSpPr>
          <p:nvPr/>
        </p:nvCxnSpPr>
        <p:spPr>
          <a:xfrm>
            <a:off x="3272871" y="3058133"/>
            <a:ext cx="20650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16BEA2B5-32E9-6FE8-6E64-1EBF54A0CDBB}"/>
              </a:ext>
            </a:extLst>
          </p:cNvPr>
          <p:cNvCxnSpPr>
            <a:cxnSpLocks/>
          </p:cNvCxnSpPr>
          <p:nvPr/>
        </p:nvCxnSpPr>
        <p:spPr>
          <a:xfrm flipV="1">
            <a:off x="5329287" y="2636253"/>
            <a:ext cx="0" cy="406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2190143B-426A-65D2-B5BC-B4DB33AB7AD8}"/>
              </a:ext>
            </a:extLst>
          </p:cNvPr>
          <p:cNvCxnSpPr>
            <a:cxnSpLocks/>
          </p:cNvCxnSpPr>
          <p:nvPr/>
        </p:nvCxnSpPr>
        <p:spPr>
          <a:xfrm flipV="1">
            <a:off x="1672283" y="2069830"/>
            <a:ext cx="478286" cy="3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E4C9A9DB-A624-DCCE-4006-93689F86F9AD}"/>
              </a:ext>
            </a:extLst>
          </p:cNvPr>
          <p:cNvCxnSpPr>
            <a:cxnSpLocks/>
            <a:stCxn id="84" idx="3"/>
          </p:cNvCxnSpPr>
          <p:nvPr/>
        </p:nvCxnSpPr>
        <p:spPr>
          <a:xfrm flipV="1">
            <a:off x="1706010" y="3890396"/>
            <a:ext cx="425081" cy="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6DE3331F-600F-FBDA-BDA0-415121D4802A}"/>
              </a:ext>
            </a:extLst>
          </p:cNvPr>
          <p:cNvSpPr/>
          <p:nvPr/>
        </p:nvSpPr>
        <p:spPr>
          <a:xfrm>
            <a:off x="8168198" y="1574723"/>
            <a:ext cx="269694" cy="33521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12135B3F-A88B-A8A1-EBFC-F3084A238A2B}"/>
              </a:ext>
            </a:extLst>
          </p:cNvPr>
          <p:cNvSpPr txBox="1"/>
          <p:nvPr/>
        </p:nvSpPr>
        <p:spPr>
          <a:xfrm rot="5400000">
            <a:off x="8003924" y="2919633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Linear</a:t>
            </a:r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116E0C1D-D280-D2B7-8C26-F4D44AA47D3B}"/>
              </a:ext>
            </a:extLst>
          </p:cNvPr>
          <p:cNvCxnSpPr>
            <a:cxnSpLocks/>
          </p:cNvCxnSpPr>
          <p:nvPr/>
        </p:nvCxnSpPr>
        <p:spPr>
          <a:xfrm>
            <a:off x="7155034" y="5129276"/>
            <a:ext cx="69120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61763BA-92AE-1BB4-9288-5D70B87B8752}"/>
              </a:ext>
            </a:extLst>
          </p:cNvPr>
          <p:cNvCxnSpPr>
            <a:cxnSpLocks/>
          </p:cNvCxnSpPr>
          <p:nvPr/>
        </p:nvCxnSpPr>
        <p:spPr>
          <a:xfrm>
            <a:off x="7842592" y="4549423"/>
            <a:ext cx="3219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25D1D9BB-143D-162A-AE61-725F1D6BA07C}"/>
              </a:ext>
            </a:extLst>
          </p:cNvPr>
          <p:cNvCxnSpPr>
            <a:cxnSpLocks/>
          </p:cNvCxnSpPr>
          <p:nvPr/>
        </p:nvCxnSpPr>
        <p:spPr>
          <a:xfrm>
            <a:off x="7846236" y="4539459"/>
            <a:ext cx="0" cy="5965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14ECBECA-A428-1BBD-0643-BD8147B23D6F}"/>
              </a:ext>
            </a:extLst>
          </p:cNvPr>
          <p:cNvCxnSpPr>
            <a:cxnSpLocks/>
          </p:cNvCxnSpPr>
          <p:nvPr/>
        </p:nvCxnSpPr>
        <p:spPr>
          <a:xfrm>
            <a:off x="8437892" y="3042328"/>
            <a:ext cx="10185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EB9E663E-341F-2035-3EB0-B569A05ADA29}"/>
              </a:ext>
            </a:extLst>
          </p:cNvPr>
          <p:cNvSpPr txBox="1"/>
          <p:nvPr/>
        </p:nvSpPr>
        <p:spPr>
          <a:xfrm>
            <a:off x="9552244" y="2903828"/>
            <a:ext cx="655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126005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2FAA9-9ACE-6BD3-F20F-07D875F19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28361"/>
            <a:ext cx="10515600" cy="1325563"/>
          </a:xfrm>
        </p:spPr>
        <p:txBody>
          <a:bodyPr/>
          <a:lstStyle/>
          <a:p>
            <a:r>
              <a:rPr lang="en-US" dirty="0"/>
              <a:t>Experiments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88B734-75FC-E25C-3D7A-AEAC23097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92528"/>
              </p:ext>
            </p:extLst>
          </p:nvPr>
        </p:nvGraphicFramePr>
        <p:xfrm>
          <a:off x="3724908" y="1805940"/>
          <a:ext cx="8128002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8513002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0022939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6518946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917894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0342760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5454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Trial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Hidden Dims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Training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Relative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791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[64, 64]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892.67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27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[64, 64]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387.34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4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[32, 32]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356.04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517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[32, 32]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844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[16, 16]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001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[8, 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1846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590A721-E9BD-2FF5-D72B-2ECE3E112416}"/>
              </a:ext>
            </a:extLst>
          </p:cNvPr>
          <p:cNvSpPr txBox="1"/>
          <p:nvPr/>
        </p:nvSpPr>
        <p:spPr>
          <a:xfrm>
            <a:off x="438150" y="2287992"/>
            <a:ext cx="29375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Constant Training Parameters: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/>
              <a:t>MSELoss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Adam Optimize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Learning Rate = 0.001</a:t>
            </a:r>
          </a:p>
        </p:txBody>
      </p:sp>
    </p:spTree>
    <p:extLst>
      <p:ext uri="{BB962C8B-B14F-4D97-AF65-F5344CB8AC3E}">
        <p14:creationId xmlns:p14="http://schemas.microsoft.com/office/powerpoint/2010/main" val="1135534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B1C83-878F-C554-3F85-42EBBBD95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Model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EDC07-4745-02A1-D572-6269850D9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003675"/>
          </a:xfrm>
        </p:spPr>
        <p:txBody>
          <a:bodyPr/>
          <a:lstStyle/>
          <a:p>
            <a:r>
              <a:rPr lang="en-US" dirty="0"/>
              <a:t>Normalize Tabular Data</a:t>
            </a:r>
          </a:p>
          <a:p>
            <a:r>
              <a:rPr lang="en-US" dirty="0"/>
              <a:t>Better Feature Selection For Tabular Data</a:t>
            </a:r>
          </a:p>
          <a:p>
            <a:r>
              <a:rPr lang="en-US" dirty="0"/>
              <a:t>Incorporate Edge Feature Data</a:t>
            </a:r>
          </a:p>
          <a:p>
            <a:r>
              <a:rPr lang="en-US" dirty="0"/>
              <a:t>Add Connections Earlier In the Model Between</a:t>
            </a:r>
          </a:p>
        </p:txBody>
      </p:sp>
    </p:spTree>
    <p:extLst>
      <p:ext uri="{BB962C8B-B14F-4D97-AF65-F5344CB8AC3E}">
        <p14:creationId xmlns:p14="http://schemas.microsoft.com/office/powerpoint/2010/main" val="2344567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2D24-21CA-AB78-5235-E99CD857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pic>
        <p:nvPicPr>
          <p:cNvPr id="2050" name="Picture 2" descr="Understanding Machine Learning through Memes | by Harsh Aryan | Nybles |  Medium">
            <a:extLst>
              <a:ext uri="{FF2B5EF4-FFF2-40B4-BE49-F238E27FC236}">
                <a16:creationId xmlns:a16="http://schemas.microsoft.com/office/drawing/2014/main" id="{98228744-425D-AA5E-E1E2-CD8C3AEB8B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89"/>
          <a:stretch/>
        </p:blipFill>
        <p:spPr bwMode="auto">
          <a:xfrm>
            <a:off x="3971925" y="1417637"/>
            <a:ext cx="4762500" cy="501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173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660</Words>
  <Application>Microsoft Office PowerPoint</Application>
  <PresentationFormat>Widescreen</PresentationFormat>
  <Paragraphs>182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Wingdings</vt:lpstr>
      <vt:lpstr>Office Theme</vt:lpstr>
      <vt:lpstr>Graph Convolution Network Based Prediction of logK_d/logK_i for Protease Protein Family</vt:lpstr>
      <vt:lpstr>Equilibrium Dissociation Constant K_d</vt:lpstr>
      <vt:lpstr>Protease</vt:lpstr>
      <vt:lpstr>Raw Data and File Hierarchy </vt:lpstr>
      <vt:lpstr>Tabular Data: Molecular Properties and Morgan Fingerprints</vt:lpstr>
      <vt:lpstr>PowerPoint Presentation</vt:lpstr>
      <vt:lpstr>Graph Representation of Molecules</vt:lpstr>
      <vt:lpstr>Graph Convolution Layer</vt:lpstr>
      <vt:lpstr>Implemented Model</vt:lpstr>
      <vt:lpstr>Experiments</vt:lpstr>
      <vt:lpstr>Possible Model Improvements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Tara</dc:creator>
  <cp:lastModifiedBy>Vivek Tara</cp:lastModifiedBy>
  <cp:revision>5</cp:revision>
  <dcterms:created xsi:type="dcterms:W3CDTF">2025-04-28T21:59:12Z</dcterms:created>
  <dcterms:modified xsi:type="dcterms:W3CDTF">2025-04-29T18:25:04Z</dcterms:modified>
</cp:coreProperties>
</file>